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87b0da6-4004-9810-a9ed-8665abbb72cc}">
          <p14:sldIdLst>
            <p14:sldId id="256"/>
            <p14:sldId id="257"/>
          </p14:sldIdLst>
        </p14:section>
        <p14:section name="Findings" id="{633f79d6-7428-4a88-5c59-bc7537fa9d7c}">
          <p14:sldIdLst>
            <p14:sldId id="258"/>
            <p14:sldId id="259"/>
            <p14:sldId id="260"/>
            <p14:sldId id="261"/>
            <p14:sldId id="262"/>
          </p14:sldIdLst>
        </p14:section>
        <p14:section name="Next steps" id="{4dd21e4f-78a5-1a10-19d8-c807ab02c60f}">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Customers raising theme (of 6)</c:v>
                </c:pt>
              </c:strCache>
            </c:strRef>
          </c:tx>
          <c:spPr>
            <a:solidFill>
              <a:srgbClr val="0F4C5C"/>
            </a:solidFill>
            <a:effectLst/>
          </c:spPr>
          <c:invertIfNegative val="0"/>
          <c:dLbls>
            <c:numFmt formatCode="#,##0" sourceLinked="0"/>
            <c:txPr>
              <a:bodyPr/>
              <a:lstStyle/>
              <a:p>
                <a:pPr>
                  <a:defRPr b="0" i="0" strike="noStrike" sz="1400" u="none">
                    <a:solidFill>
                      <a:srgbClr val="1B2A2F"/>
                    </a:solidFill>
                    <a:latin typeface="+mn-lt"/>
                  </a:defRPr>
                </a:pPr>
              </a:p>
            </c:txPr>
            <c:showLegendKey val="0"/>
            <c:showVal val="1"/>
            <c:showCatName val="0"/>
            <c:showSerName val="0"/>
            <c:showPercent val="0"/>
            <c:showBubbleSize val="0"/>
            <c:showLeaderLines val="0"/>
          </c:dLbls>
          <c:dPt>
            <c:idx val="0"/>
            <c:invertIfNegative val="0"/>
            <c:bubble3D val="0"/>
            <c:spPr>
              <a:solidFill>
                <a:srgbClr val="0F4C5C"/>
              </a:solidFill>
              <a:effectLst/>
            </c:spPr>
          </c:dPt>
          <c:dPt>
            <c:idx val="1"/>
            <c:invertIfNegative val="0"/>
            <c:bubble3D val="0"/>
            <c:spPr>
              <a:solidFill>
                <a:srgbClr val="E36414"/>
              </a:solidFill>
              <a:effectLst/>
            </c:spPr>
          </c:dPt>
          <c:dPt>
            <c:idx val="2"/>
            <c:invertIfNegative val="0"/>
            <c:bubble3D val="0"/>
            <c:spPr>
              <a:solidFill>
                <a:srgbClr val="E36414"/>
              </a:solidFill>
              <a:effectLst/>
            </c:spPr>
          </c:dPt>
          <c:dPt>
            <c:idx val="3"/>
            <c:invertIfNegative val="0"/>
            <c:bubble3D val="0"/>
            <c:spPr>
              <a:solidFill>
                <a:srgbClr val="5F8D7E"/>
              </a:solidFill>
              <a:effectLst/>
            </c:spPr>
          </c:dPt>
          <c:dPt>
            <c:idx val="4"/>
            <c:invertIfNegative val="0"/>
            <c:bubble3D val="0"/>
            <c:spPr>
              <a:solidFill>
                <a:srgbClr val="E36414"/>
              </a:solidFill>
              <a:effectLst/>
            </c:spPr>
          </c:dPt>
          <c:dPt>
            <c:idx val="5"/>
            <c:invertIfNegative val="0"/>
            <c:bubble3D val="0"/>
            <c:spPr>
              <a:solidFill>
                <a:srgbClr val="5F8D7E"/>
              </a:solidFill>
              <a:effectLst/>
            </c:spPr>
          </c:dPt>
          <c:cat>
            <c:multiLvlStrRef>
              <c:f>Sheet1!$A$2:$A$7</c:f>
              <c:multiLvlStrCache>
                <c:ptCount val="6"/>
                <c:lvl>
                  <c:pt idx="0">
                    <c:v>Spanish user interface needed</c:v>
                  </c:pt>
                  <c:pt idx="1">
                    <c:v>Photo uploads too slow on LTE</c:v>
                  </c:pt>
                  <c:pt idx="2">
                    <c:v>Offline limit of 24 hours too short</c:v>
                  </c:pt>
                  <c:pt idx="3">
                    <c:v>Training approach worked well</c:v>
                  </c:pt>
                  <c:pt idx="4">
                    <c:v>Battery does not last a shift</c:v>
                  </c:pt>
                  <c:pt idx="5">
                    <c:v>Form builder is easy to use</c:v>
                  </c:pt>
                </c:lvl>
              </c:multiLvlStrCache>
            </c:multiLvlStrRef>
          </c:cat>
          <c:val>
            <c:numRef>
              <c:f>Sheet1!$B$2:$B$7</c:f>
              <c:numCache>
                <c:formatCode>General</c:formatCode>
                <c:ptCount val="6"/>
                <c:pt idx="0">
                  <c:v>2</c:v>
                </c:pt>
                <c:pt idx="1">
                  <c:v>3</c:v>
                </c:pt>
                <c:pt idx="2">
                  <c:v>3</c:v>
                </c:pt>
                <c:pt idx="3">
                  <c:v>4</c:v>
                </c:pt>
                <c:pt idx="4">
                  <c:v>4</c:v>
                </c:pt>
                <c:pt idx="5">
                  <c:v>5</c:v>
                </c:pt>
              </c:numCache>
            </c:numRef>
          </c:val>
        </c:ser>
        <c:dLbls>
          <c:numFmt formatCode="#,##0" sourceLinked="0"/>
          <c:txPr>
            <a:bodyPr/>
            <a:lstStyle/>
            <a:p>
              <a:pPr>
                <a:defRPr b="0" i="0" strike="noStrike" sz="14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max val="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Interviews were 60 to 90 minutes each, conducted on site or by video with field supervisors and administrators. Findings feed the 6.3 and 7.0 release plans and current RFP responses, including Marlow Basin Water District.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Battery came up unprompted in four interviews: Ridgeway, Lakeport, Sutter Bend and Pine Hollow. Granite Falls and Elmira Flats provide vehicle charging, so they did not raise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446520"/>
            <a:ext cx="9144000" cy="274320"/>
          </a:xfrm>
          <a:prstGeom prst="rect">
            <a:avLst/>
          </a:prstGeom>
          <a:noFill/>
          <a:ln/>
        </p:spPr>
        <p:txBody>
          <a:bodyPr wrap="square" lIns="0" tIns="0" rIns="0" bIns="0" rtlCol="0" anchor="ctr"/>
          <a:lstStyle/>
          <a:p>
            <a:pPr indent="0" marL="0">
              <a:buNone/>
            </a:pPr>
            <a:r>
              <a:rPr lang="en-US" sz="900" dirty="0">
                <a:solidFill>
                  <a:schemeClr val="accent6"/>
                </a:solidFill>
              </a:rPr>
              <a:t>Fictional sample for product demonstration. All names, organizations and figures are invented.</a:t>
            </a:r>
            <a:endParaRPr lang="en-US" sz="9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B8F"/>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463040"/>
          </a:xfrm>
          <a:prstGeom prst="rect">
            <a:avLst/>
          </a:prstGeom>
          <a:noFill/>
          <a:ln/>
        </p:spPr>
        <p:txBody>
          <a:bodyPr wrap="square" rtlCol="0"/>
          <a:lstStyle>
            <a:lvl1pPr indent="0" marL="0">
              <a:buNone/>
              <a:defRPr lang="en-US" sz="4400" b="1" dirty="0">
                <a:solidFill>
                  <a:schemeClr val="bg1"/>
                </a:solidFill>
                <a:latin typeface="Cambria" pitchFamily="34" charset="0"/>
                <a:ea typeface="Cambria" pitchFamily="34" charset="-122"/>
                <a:cs typeface="Cambria" pitchFamily="34" charset="-120"/>
              </a:defRPr>
            </a:lvl1pPr>
          </a:lstStyle>
          <a:p>
            <a:pPr indent="0" marL="0">
              <a:buNone/>
            </a:pPr>
            <a:endParaRPr lang="en-US" sz="4400" dirty="0"/>
          </a:p>
        </p:txBody>
      </p:sp>
      <p:sp>
        <p:nvSpPr>
          <p:cNvPr id="3" name="Text 0"/>
          <p:cNvSpPr/>
          <p:nvPr>
            <p:ph idx="101" type="body" hasCustomPrompt="1"/>
          </p:nvPr>
        </p:nvSpPr>
        <p:spPr>
          <a:xfrm>
            <a:off x="731520" y="3566160"/>
            <a:ext cx="10698480"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4" name="Text 0"/>
          <p:cNvSpPr/>
          <p:nvPr/>
        </p:nvSpPr>
        <p:spPr>
          <a:xfrm>
            <a:off x="731520" y="6400800"/>
            <a:ext cx="10058400" cy="274320"/>
          </a:xfrm>
          <a:prstGeom prst="rect">
            <a:avLst/>
          </a:prstGeom>
          <a:noFill/>
          <a:ln/>
        </p:spPr>
        <p:txBody>
          <a:bodyPr wrap="square" lIns="0" tIns="0" rIns="0" bIns="0" rtlCol="0" anchor="ctr"/>
          <a:lstStyle/>
          <a:p>
            <a:pPr indent="0" marL="0">
              <a:buNone/>
            </a:pPr>
            <a:r>
              <a:rPr lang="en-US" sz="900" dirty="0">
                <a:solidFill>
                  <a:srgbClr val="9FB8BE"/>
                </a:solidFill>
              </a:rPr>
              <a:t>Fictional sample for product demonstration. All names, organizations and figures are invented.</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B8F"/>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463040"/>
          </a:xfrm>
          <a:prstGeom prst="rect">
            <a:avLst/>
          </a:prstGeom>
          <a:noFill/>
          <a:ln/>
        </p:spPr>
        <p:txBody>
          <a:bodyPr wrap="square" lIns="0" tIns="0" rIns="0" bIns="0" rtlCol="0" anchor="b"/>
          <a:lstStyle/>
          <a:p>
            <a:pPr indent="0" marL="0">
              <a:buNone/>
            </a:pPr>
            <a:r>
              <a:rPr lang="en-US" sz="4400" b="1" dirty="0">
                <a:solidFill>
                  <a:schemeClr val="bg1"/>
                </a:solidFill>
                <a:latin typeface="Cambria" pitchFamily="34" charset="0"/>
                <a:ea typeface="Cambria" pitchFamily="34" charset="-122"/>
                <a:cs typeface="Cambria" pitchFamily="34" charset="-120"/>
              </a:rPr>
              <a:t>Field Voices: Customer Interviews, Q3 2026</a:t>
            </a:r>
            <a:endParaRPr lang="en-US" sz="4400" dirty="0"/>
          </a:p>
        </p:txBody>
      </p:sp>
      <p:sp>
        <p:nvSpPr>
          <p:cNvPr id="3" name="Text 0"/>
          <p:cNvSpPr/>
          <p:nvPr>
            <p:ph idx="101" type="body" hasCustomPrompt="1"/>
          </p:nvPr>
        </p:nvSpPr>
        <p:spPr>
          <a:xfrm>
            <a:off x="731520" y="3566160"/>
            <a:ext cx="10698480" cy="1463040"/>
          </a:xfrm>
          <a:prstGeom prst="rect">
            <a:avLst/>
          </a:prstGeom>
          <a:noFill/>
          <a:ln/>
        </p:spPr>
        <p:txBody>
          <a:bodyPr wrap="square" lIns="0" tIns="0" rIns="0" bIns="0" rtlCol="0" anchor="t"/>
          <a:lstStyle/>
          <a:p>
            <a:pPr indent="0" marL="0">
              <a:buNone/>
            </a:pPr>
            <a:r>
              <a:rPr lang="en-US" sz="1800" dirty="0">
                <a:solidFill>
                  <a:schemeClr val="bg2"/>
                </a:solidFill>
              </a:rPr>
              <a:t>Corvane Inspect  |  6 utility customers  |  July to September 2026</a:t>
            </a:r>
            <a:endParaRPr lang="en-US" sz="1800" dirty="0"/>
          </a:p>
          <a:p>
            <a:pPr indent="0" marL="0">
              <a:buNone/>
            </a:pPr>
            <a:r>
              <a:rPr lang="en-US" sz="1800" dirty="0">
                <a:solidFill>
                  <a:schemeClr val="bg2"/>
                </a:solidFill>
              </a:rPr>
              <a:t>Prepared by Priya Raman, Product Management  |  Internal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Six customers, 1,540 field users, one clear message: crews need all-day devices</a:t>
            </a:r>
            <a:endParaRPr lang="en-US" sz="3200" dirty="0"/>
          </a:p>
        </p:txBody>
      </p:sp>
      <p:sp>
        <p:nvSpPr>
          <p:cNvPr id="3" name="Stat customers"/>
          <p:cNvSpPr txBox="1"/>
          <p:nvPr/>
        </p:nvSpPr>
        <p:spPr>
          <a:xfrm>
            <a:off x="548640" y="1417320"/>
            <a:ext cx="2377440" cy="82296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6</a:t>
            </a:r>
            <a:endParaRPr lang="en-US" sz="4800" dirty="0"/>
          </a:p>
        </p:txBody>
      </p:sp>
      <p:sp>
        <p:nvSpPr>
          <p:cNvPr id="4" name="Stat customers label"/>
          <p:cNvSpPr txBox="1"/>
          <p:nvPr/>
        </p:nvSpPr>
        <p:spPr>
          <a:xfrm>
            <a:off x="548640" y="2240280"/>
            <a:ext cx="2377440" cy="548640"/>
          </a:xfrm>
          <a:prstGeom prst="rect">
            <a:avLst/>
          </a:prstGeom>
          <a:noFill/>
          <a:ln/>
        </p:spPr>
        <p:txBody>
          <a:bodyPr wrap="square" lIns="0" tIns="0" rIns="0" bIns="0" rtlCol="0" anchor="t"/>
          <a:lstStyle/>
          <a:p>
            <a:pPr indent="0" marL="0">
              <a:buNone/>
            </a:pPr>
            <a:r>
              <a:rPr lang="en-US" sz="1300" dirty="0">
                <a:solidFill>
                  <a:schemeClr val="tx1"/>
                </a:solidFill>
              </a:rPr>
              <a:t>customers interviewed across water, electric, gas and irrigation</a:t>
            </a:r>
            <a:endParaRPr lang="en-US" sz="1300" dirty="0"/>
          </a:p>
        </p:txBody>
      </p:sp>
      <p:sp>
        <p:nvSpPr>
          <p:cNvPr id="5" name="Stat users"/>
          <p:cNvSpPr txBox="1"/>
          <p:nvPr/>
        </p:nvSpPr>
        <p:spPr>
          <a:xfrm>
            <a:off x="548640" y="2880360"/>
            <a:ext cx="2377440" cy="82296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1,540</a:t>
            </a:r>
            <a:endParaRPr lang="en-US" sz="4800" dirty="0"/>
          </a:p>
        </p:txBody>
      </p:sp>
      <p:sp>
        <p:nvSpPr>
          <p:cNvPr id="6" name="Stat users label"/>
          <p:cNvSpPr txBox="1"/>
          <p:nvPr/>
        </p:nvSpPr>
        <p:spPr>
          <a:xfrm>
            <a:off x="548640" y="3703320"/>
            <a:ext cx="2377440" cy="548640"/>
          </a:xfrm>
          <a:prstGeom prst="rect">
            <a:avLst/>
          </a:prstGeom>
          <a:noFill/>
          <a:ln/>
        </p:spPr>
        <p:txBody>
          <a:bodyPr wrap="square" lIns="0" tIns="0" rIns="0" bIns="0" rtlCol="0" anchor="t"/>
          <a:lstStyle/>
          <a:p>
            <a:pPr indent="0" marL="0">
              <a:buNone/>
            </a:pPr>
            <a:r>
              <a:rPr lang="en-US" sz="1300" dirty="0">
                <a:solidFill>
                  <a:schemeClr val="tx1"/>
                </a:solidFill>
              </a:rPr>
              <a:t>field users represented, 16% of the active base</a:t>
            </a:r>
            <a:endParaRPr lang="en-US" sz="1300" dirty="0"/>
          </a:p>
        </p:txBody>
      </p:sp>
      <p:sp>
        <p:nvSpPr>
          <p:cNvPr id="7" name="Stat NPS"/>
          <p:cNvSpPr txBox="1"/>
          <p:nvPr/>
        </p:nvSpPr>
        <p:spPr>
          <a:xfrm>
            <a:off x="548640" y="4343400"/>
            <a:ext cx="2377440" cy="82296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41</a:t>
            </a:r>
            <a:endParaRPr lang="en-US" sz="4800" dirty="0"/>
          </a:p>
        </p:txBody>
      </p:sp>
      <p:sp>
        <p:nvSpPr>
          <p:cNvPr id="8" name="Stat NPS label"/>
          <p:cNvSpPr txBox="1"/>
          <p:nvPr/>
        </p:nvSpPr>
        <p:spPr>
          <a:xfrm>
            <a:off x="548640" y="5166360"/>
            <a:ext cx="2377440" cy="548640"/>
          </a:xfrm>
          <a:prstGeom prst="rect">
            <a:avLst/>
          </a:prstGeom>
          <a:noFill/>
          <a:ln/>
        </p:spPr>
        <p:txBody>
          <a:bodyPr wrap="square" lIns="0" tIns="0" rIns="0" bIns="0" rtlCol="0" anchor="t"/>
          <a:lstStyle/>
          <a:p>
            <a:pPr indent="0" marL="0">
              <a:buNone/>
            </a:pPr>
            <a:r>
              <a:rPr lang="en-US" sz="1300" dirty="0">
                <a:solidFill>
                  <a:schemeClr val="tx1"/>
                </a:solidFill>
              </a:rPr>
              <a:t>net promoter score, up from 33 in Q1 2026</a:t>
            </a:r>
            <a:endParaRPr lang="en-US" sz="1300" dirty="0"/>
          </a:p>
        </p:txBody>
      </p:sp>
      <p:graphicFrame>
        <p:nvGraphicFramePr>
          <p:cNvPr id="3" name="Customer table"/>
          <p:cNvGraphicFramePr>
            <a:graphicFrameLocks noGrp="1"/>
          </p:cNvGraphicFramePr>
          <p:nvPr>
            <p:extLst>
              <p:ext uri="{D42A27DB-BD31-4B8C-83A1-F6EECF244321}">
                <p14:modId xmlns:p14="http://schemas.microsoft.com/office/powerpoint/2010/main" val="1579011935"/>
              </p:ext>
            </p:extLst>
          </p:nvPr>
        </p:nvGraphicFramePr>
        <p:xfrm>
          <a:off x="3291840" y="1463040"/>
          <a:ext cx="8321040" cy="914400"/>
        </p:xfrm>
        <a:graphic>
          <a:graphicData uri="http://schemas.openxmlformats.org/drawingml/2006/table">
            <a:tbl>
              <a:tblPr/>
              <a:tblGrid>
                <a:gridCol w="2743200"/>
                <a:gridCol w="1097280"/>
                <a:gridCol w="1005840"/>
                <a:gridCol w="3474720"/>
              </a:tblGrid>
              <a:tr h="475488">
                <a:tc>
                  <a:txBody>
                    <a:bodyPr/>
                    <a:lstStyle/>
                    <a:p>
                      <a:pPr indent="0" marL="0">
                        <a:buNone/>
                      </a:pPr>
                      <a:r>
                        <a:rPr lang="en-US" sz="1300" b="1" dirty="0">
                          <a:solidFill>
                            <a:srgbClr val="FFFFFF"/>
                          </a:solidFill>
                        </a:rPr>
                        <a:t>Customer</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0F4C5C"/>
                    </a:solidFill>
                  </a:tcPr>
                </a:tc>
                <a:tc>
                  <a:txBody>
                    <a:bodyPr/>
                    <a:lstStyle/>
                    <a:p>
                      <a:pPr indent="0" marL="0">
                        <a:buNone/>
                      </a:pPr>
                      <a:r>
                        <a:rPr lang="en-US" sz="1300" b="1" dirty="0">
                          <a:solidFill>
                            <a:srgbClr val="FFFFFF"/>
                          </a:solidFill>
                        </a:rPr>
                        <a:t>Sector</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0F4C5C"/>
                    </a:solidFill>
                  </a:tcPr>
                </a:tc>
                <a:tc>
                  <a:txBody>
                    <a:bodyPr/>
                    <a:lstStyle/>
                    <a:p>
                      <a:pPr indent="0" marL="0">
                        <a:buNone/>
                      </a:pPr>
                      <a:r>
                        <a:rPr lang="en-US" sz="1300" b="1" dirty="0">
                          <a:solidFill>
                            <a:srgbClr val="FFFFFF"/>
                          </a:solidFill>
                        </a:rPr>
                        <a:t>Field users</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0F4C5C"/>
                    </a:solidFill>
                  </a:tcPr>
                </a:tc>
                <a:tc>
                  <a:txBody>
                    <a:bodyPr/>
                    <a:lstStyle/>
                    <a:p>
                      <a:pPr indent="0" marL="0">
                        <a:buNone/>
                      </a:pPr>
                      <a:r>
                        <a:rPr lang="en-US" sz="1300" b="1" dirty="0">
                          <a:solidFill>
                            <a:srgbClr val="FFFFFF"/>
                          </a:solidFill>
                        </a:rPr>
                        <a:t>Interviewee</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0F4C5C"/>
                    </a:solidFill>
                  </a:tcPr>
                </a:tc>
              </a:tr>
              <a:tr h="475488">
                <a:tc>
                  <a:txBody>
                    <a:bodyPr/>
                    <a:lstStyle/>
                    <a:p>
                      <a:pPr indent="0" marL="0">
                        <a:buNone/>
                      </a:pPr>
                      <a:r>
                        <a:rPr lang="en-US" sz="1300" dirty="0">
                          <a:solidFill>
                            <a:srgbClr val="1B2A2F"/>
                          </a:solidFill>
                        </a:rPr>
                        <a:t>Ridgeway Electric Cooperative</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c>
                  <a:txBody>
                    <a:bodyPr/>
                    <a:lstStyle/>
                    <a:p>
                      <a:pPr indent="0" marL="0">
                        <a:buNone/>
                      </a:pPr>
                      <a:r>
                        <a:rPr lang="en-US" sz="1300" dirty="0">
                          <a:solidFill>
                            <a:srgbClr val="1B2A2F"/>
                          </a:solidFill>
                        </a:rPr>
                        <a:t>Electric</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c>
                  <a:txBody>
                    <a:bodyPr/>
                    <a:lstStyle/>
                    <a:p>
                      <a:pPr indent="0" marL="0">
                        <a:buNone/>
                      </a:pPr>
                      <a:r>
                        <a:rPr lang="en-US" sz="1300" dirty="0">
                          <a:solidFill>
                            <a:srgbClr val="1B2A2F"/>
                          </a:solidFill>
                        </a:rPr>
                        <a:t>310</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c>
                  <a:txBody>
                    <a:bodyPr/>
                    <a:lstStyle/>
                    <a:p>
                      <a:pPr indent="0" marL="0">
                        <a:buNone/>
                      </a:pPr>
                      <a:r>
                        <a:rPr lang="en-US" sz="1300" dirty="0">
                          <a:solidFill>
                            <a:srgbClr val="1B2A2F"/>
                          </a:solidFill>
                        </a:rPr>
                        <a:t>Carla Benning, Field Operations Supervisor</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r>
              <a:tr h="475488">
                <a:tc>
                  <a:txBody>
                    <a:bodyPr/>
                    <a:lstStyle/>
                    <a:p>
                      <a:pPr indent="0" marL="0">
                        <a:buNone/>
                      </a:pPr>
                      <a:r>
                        <a:rPr lang="en-US" sz="1300" dirty="0">
                          <a:solidFill>
                            <a:srgbClr val="1B2A2F"/>
                          </a:solidFill>
                        </a:rPr>
                        <a:t>Lakeport Public Works</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c>
                  <a:txBody>
                    <a:bodyPr/>
                    <a:lstStyle/>
                    <a:p>
                      <a:pPr indent="0" marL="0">
                        <a:buNone/>
                      </a:pPr>
                      <a:r>
                        <a:rPr lang="en-US" sz="1300" dirty="0">
                          <a:solidFill>
                            <a:srgbClr val="1B2A2F"/>
                          </a:solidFill>
                        </a:rPr>
                        <a:t>Municipal</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c>
                  <a:txBody>
                    <a:bodyPr/>
                    <a:lstStyle/>
                    <a:p>
                      <a:pPr indent="0" marL="0">
                        <a:buNone/>
                      </a:pPr>
                      <a:r>
                        <a:rPr lang="en-US" sz="1300" dirty="0">
                          <a:solidFill>
                            <a:srgbClr val="1B2A2F"/>
                          </a:solidFill>
                        </a:rPr>
                        <a:t>180</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c>
                  <a:txBody>
                    <a:bodyPr/>
                    <a:lstStyle/>
                    <a:p>
                      <a:pPr indent="0" marL="0">
                        <a:buNone/>
                      </a:pPr>
                      <a:r>
                        <a:rPr lang="en-US" sz="1300" dirty="0">
                          <a:solidFill>
                            <a:srgbClr val="1B2A2F"/>
                          </a:solidFill>
                        </a:rPr>
                        <a:t>Devon Pryce, Asset Manager</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r>
              <a:tr h="475488">
                <a:tc>
                  <a:txBody>
                    <a:bodyPr/>
                    <a:lstStyle/>
                    <a:p>
                      <a:pPr indent="0" marL="0">
                        <a:buNone/>
                      </a:pPr>
                      <a:r>
                        <a:rPr lang="en-US" sz="1300" dirty="0">
                          <a:solidFill>
                            <a:srgbClr val="1B2A2F"/>
                          </a:solidFill>
                        </a:rPr>
                        <a:t>Pine Hollow Utility District</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c>
                  <a:txBody>
                    <a:bodyPr/>
                    <a:lstStyle/>
                    <a:p>
                      <a:pPr indent="0" marL="0">
                        <a:buNone/>
                      </a:pPr>
                      <a:r>
                        <a:rPr lang="en-US" sz="1300" dirty="0">
                          <a:solidFill>
                            <a:srgbClr val="1B2A2F"/>
                          </a:solidFill>
                        </a:rPr>
                        <a:t>Water</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c>
                  <a:txBody>
                    <a:bodyPr/>
                    <a:lstStyle/>
                    <a:p>
                      <a:pPr indent="0" marL="0">
                        <a:buNone/>
                      </a:pPr>
                      <a:r>
                        <a:rPr lang="en-US" sz="1300" dirty="0">
                          <a:solidFill>
                            <a:srgbClr val="1B2A2F"/>
                          </a:solidFill>
                        </a:rPr>
                        <a:t>220</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c>
                  <a:txBody>
                    <a:bodyPr/>
                    <a:lstStyle/>
                    <a:p>
                      <a:pPr indent="0" marL="0">
                        <a:buNone/>
                      </a:pPr>
                      <a:r>
                        <a:rPr lang="en-US" sz="1300" dirty="0">
                          <a:solidFill>
                            <a:srgbClr val="1B2A2F"/>
                          </a:solidFill>
                        </a:rPr>
                        <a:t>Hank Morales, Distribution Superintendent</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r>
              <a:tr h="475488">
                <a:tc>
                  <a:txBody>
                    <a:bodyPr/>
                    <a:lstStyle/>
                    <a:p>
                      <a:pPr indent="0" marL="0">
                        <a:buNone/>
                      </a:pPr>
                      <a:r>
                        <a:rPr lang="en-US" sz="1300" dirty="0">
                          <a:solidFill>
                            <a:srgbClr val="1B2A2F"/>
                          </a:solidFill>
                        </a:rPr>
                        <a:t>Granite Falls Water Authority</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c>
                  <a:txBody>
                    <a:bodyPr/>
                    <a:lstStyle/>
                    <a:p>
                      <a:pPr indent="0" marL="0">
                        <a:buNone/>
                      </a:pPr>
                      <a:r>
                        <a:rPr lang="en-US" sz="1300" dirty="0">
                          <a:solidFill>
                            <a:srgbClr val="1B2A2F"/>
                          </a:solidFill>
                        </a:rPr>
                        <a:t>Water</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c>
                  <a:txBody>
                    <a:bodyPr/>
                    <a:lstStyle/>
                    <a:p>
                      <a:pPr indent="0" marL="0">
                        <a:buNone/>
                      </a:pPr>
                      <a:r>
                        <a:rPr lang="en-US" sz="1300" dirty="0">
                          <a:solidFill>
                            <a:srgbClr val="1B2A2F"/>
                          </a:solidFill>
                        </a:rPr>
                        <a:t>260</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c>
                  <a:txBody>
                    <a:bodyPr/>
                    <a:lstStyle/>
                    <a:p>
                      <a:pPr indent="0" marL="0">
                        <a:buNone/>
                      </a:pPr>
                      <a:r>
                        <a:rPr lang="en-US" sz="1300" dirty="0">
                          <a:solidFill>
                            <a:srgbClr val="1B2A2F"/>
                          </a:solidFill>
                        </a:rPr>
                        <a:t>Mei Tanaka, GIS and Asset Lead</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r>
              <a:tr h="475488">
                <a:tc>
                  <a:txBody>
                    <a:bodyPr/>
                    <a:lstStyle/>
                    <a:p>
                      <a:pPr indent="0" marL="0">
                        <a:buNone/>
                      </a:pPr>
                      <a:r>
                        <a:rPr lang="en-US" sz="1300" dirty="0">
                          <a:solidFill>
                            <a:srgbClr val="1B2A2F"/>
                          </a:solidFill>
                        </a:rPr>
                        <a:t>Sutter Bend Gas Company</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c>
                  <a:txBody>
                    <a:bodyPr/>
                    <a:lstStyle/>
                    <a:p>
                      <a:pPr indent="0" marL="0">
                        <a:buNone/>
                      </a:pPr>
                      <a:r>
                        <a:rPr lang="en-US" sz="1300" dirty="0">
                          <a:solidFill>
                            <a:srgbClr val="1B2A2F"/>
                          </a:solidFill>
                        </a:rPr>
                        <a:t>Gas</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c>
                  <a:txBody>
                    <a:bodyPr/>
                    <a:lstStyle/>
                    <a:p>
                      <a:pPr indent="0" marL="0">
                        <a:buNone/>
                      </a:pPr>
                      <a:r>
                        <a:rPr lang="en-US" sz="1300" dirty="0">
                          <a:solidFill>
                            <a:srgbClr val="1B2A2F"/>
                          </a:solidFill>
                        </a:rPr>
                        <a:t>340</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c>
                  <a:txBody>
                    <a:bodyPr/>
                    <a:lstStyle/>
                    <a:p>
                      <a:pPr indent="0" marL="0">
                        <a:buNone/>
                      </a:pPr>
                      <a:r>
                        <a:rPr lang="en-US" sz="1300" dirty="0">
                          <a:solidFill>
                            <a:srgbClr val="1B2A2F"/>
                          </a:solidFill>
                        </a:rPr>
                        <a:t>Rafael Quintero, Compliance Manager</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r>
              <a:tr h="475488">
                <a:tc>
                  <a:txBody>
                    <a:bodyPr/>
                    <a:lstStyle/>
                    <a:p>
                      <a:pPr indent="0" marL="0">
                        <a:buNone/>
                      </a:pPr>
                      <a:r>
                        <a:rPr lang="en-US" sz="1300" dirty="0">
                          <a:solidFill>
                            <a:srgbClr val="1B2A2F"/>
                          </a:solidFill>
                        </a:rPr>
                        <a:t>Elmira Flats Irrigation District</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c>
                  <a:txBody>
                    <a:bodyPr/>
                    <a:lstStyle/>
                    <a:p>
                      <a:pPr indent="0" marL="0">
                        <a:buNone/>
                      </a:pPr>
                      <a:r>
                        <a:rPr lang="en-US" sz="1300" dirty="0">
                          <a:solidFill>
                            <a:srgbClr val="1B2A2F"/>
                          </a:solidFill>
                        </a:rPr>
                        <a:t>Irrigation</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c>
                  <a:txBody>
                    <a:bodyPr/>
                    <a:lstStyle/>
                    <a:p>
                      <a:pPr indent="0" marL="0">
                        <a:buNone/>
                      </a:pPr>
                      <a:r>
                        <a:rPr lang="en-US" sz="1300" dirty="0">
                          <a:solidFill>
                            <a:srgbClr val="1B2A2F"/>
                          </a:solidFill>
                        </a:rPr>
                        <a:t>230</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c>
                  <a:txBody>
                    <a:bodyPr/>
                    <a:lstStyle/>
                    <a:p>
                      <a:pPr indent="0" marL="0">
                        <a:buNone/>
                      </a:pPr>
                      <a:r>
                        <a:rPr lang="en-US" sz="1300" dirty="0">
                          <a:solidFill>
                            <a:srgbClr val="1B2A2F"/>
                          </a:solidFill>
                        </a:rPr>
                        <a:t>Joan Albrecht, Operations Manager</a:t>
                      </a:r>
                      <a:endParaRPr lang="en-US" sz="1300" dirty="0"/>
                    </a:p>
                  </a:txBody>
                  <a:tcPr marL="91440" marR="91440" marT="45720" marB="4572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B8F"/>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Battery life is the top complaint; the form builder is the top reason customers stay</a:t>
            </a:r>
            <a:endParaRPr lang="en-US" sz="3200" dirty="0"/>
          </a:p>
        </p:txBody>
      </p:sp>
      <p:graphicFrame>
        <p:nvGraphicFramePr>
          <p:cNvPr id="3" name="Themes chart" descr=""/>
          <p:cNvGraphicFramePr/>
          <p:nvPr/>
        </p:nvGraphicFramePr>
        <p:xfrm>
          <a:off x="548640" y="1371600"/>
          <a:ext cx="7498080" cy="4846320"/>
        </p:xfrm>
        <a:graphic xmlns:a="http://schemas.openxmlformats.org/drawingml/2006/main">
          <a:graphicData uri="http://schemas.openxmlformats.org/drawingml/2006/chart">
            <c:chart xmlns:c="http://schemas.openxmlformats.org/drawingml/2006/chart" r:id="rId1"/>
          </a:graphicData>
        </a:graphic>
      </p:graphicFrame>
      <p:sp>
        <p:nvSpPr>
          <p:cNvPr id="4" name="Legend card"/>
          <p:cNvSpPr/>
          <p:nvPr/>
        </p:nvSpPr>
        <p:spPr>
          <a:xfrm>
            <a:off x="8412480" y="1463040"/>
            <a:ext cx="3200400" cy="4572000"/>
          </a:xfrm>
          <a:prstGeom prst="roundRect">
            <a:avLst>
              <a:gd name="adj" fmla="val 2286"/>
            </a:avLst>
          </a:prstGeom>
          <a:solidFill>
            <a:schemeClr val="bg2"/>
          </a:solidFill>
          <a:ln w="12700">
            <a:solidFill>
              <a:schemeClr val="bg2"/>
            </a:solidFill>
            <a:prstDash val="solid"/>
          </a:ln>
        </p:spPr>
      </p:sp>
      <p:sp>
        <p:nvSpPr>
          <p:cNvPr id="5" name="Legend text"/>
          <p:cNvSpPr txBox="1"/>
          <p:nvPr/>
        </p:nvSpPr>
        <p:spPr>
          <a:xfrm>
            <a:off x="8641080" y="1645920"/>
            <a:ext cx="2743200" cy="4206240"/>
          </a:xfrm>
          <a:prstGeom prst="rect">
            <a:avLst/>
          </a:prstGeom>
          <a:noFill/>
          <a:ln/>
        </p:spPr>
        <p:txBody>
          <a:bodyPr wrap="square" lIns="0" tIns="0" rIns="0" bIns="0" rtlCol="0" anchor="t"/>
          <a:lstStyle/>
          <a:p>
            <a:pPr indent="0" marL="0">
              <a:buNone/>
            </a:pPr>
            <a:r>
              <a:rPr lang="en-US" sz="1500" b="1" dirty="0">
                <a:solidFill>
                  <a:schemeClr val="tx2"/>
                </a:solidFill>
              </a:rPr>
              <a:t>How to read this</a:t>
            </a:r>
            <a:endParaRPr lang="en-US" sz="1500" dirty="0"/>
          </a:p>
          <a:p>
            <a:pPr indent="0" marL="0">
              <a:buNone/>
            </a:pPr>
            <a:r>
              <a:rPr lang="en-US" sz="1300" dirty="0">
                <a:solidFill>
                  <a:schemeClr val="tx1"/>
                </a:solidFill>
              </a:rPr>
              <a:t>Number of the 6 customers who raised each theme without prompting.</a:t>
            </a:r>
            <a:endParaRPr lang="en-US" sz="1500" dirty="0"/>
          </a:p>
          <a:p>
            <a:pPr indent="0" marL="0">
              <a:buNone/>
            </a:pPr>
            <a:r>
              <a:rPr lang="en-US" sz="800" dirty="0">
                <a:solidFill>
                  <a:srgbClr val="000000"/>
                </a:solidFill>
              </a:rPr>
              <a:t> </a:t>
            </a:r>
            <a:endParaRPr lang="en-US" sz="1500" dirty="0"/>
          </a:p>
          <a:p>
            <a:pPr indent="0" marL="0">
              <a:buNone/>
            </a:pPr>
            <a:r>
              <a:rPr lang="en-US" sz="1300" dirty="0">
                <a:solidFill>
                  <a:schemeClr val="tx1"/>
                </a:solidFill>
              </a:rPr>
              <a:t>Pain points: battery, offline limit, photo uploads, Spanish UI.</a:t>
            </a:r>
            <a:endParaRPr lang="en-US" sz="1500" dirty="0"/>
          </a:p>
          <a:p>
            <a:pPr indent="0" marL="0">
              <a:buNone/>
            </a:pPr>
            <a:r>
              <a:rPr lang="en-US" sz="800" dirty="0">
                <a:solidFill>
                  <a:srgbClr val="000000"/>
                </a:solidFill>
              </a:rPr>
              <a:t> </a:t>
            </a:r>
            <a:endParaRPr lang="en-US" sz="1500" dirty="0"/>
          </a:p>
          <a:p>
            <a:pPr indent="0" marL="0">
              <a:buNone/>
            </a:pPr>
            <a:r>
              <a:rPr lang="en-US" sz="1300" dirty="0">
                <a:solidFill>
                  <a:schemeClr val="tx1"/>
                </a:solidFill>
              </a:rPr>
              <a:t>Strengths: form builder and training.</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B8F"/>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Battery life: 4 of 6 customers say tablets die before the shift ends</a:t>
            </a:r>
            <a:endParaRPr lang="en-US" sz="3200" dirty="0"/>
          </a:p>
        </p:txBody>
      </p:sp>
      <p:sp>
        <p:nvSpPr>
          <p:cNvPr id="3" name="Quote Ridgeway"/>
          <p:cNvSpPr/>
          <p:nvPr/>
        </p:nvSpPr>
        <p:spPr>
          <a:xfrm>
            <a:off x="548640" y="1371600"/>
            <a:ext cx="5486400" cy="1417320"/>
          </a:xfrm>
          <a:prstGeom prst="roundRect">
            <a:avLst>
              <a:gd name="adj" fmla="val 5161"/>
            </a:avLst>
          </a:prstGeom>
          <a:solidFill>
            <a:schemeClr val="bg2"/>
          </a:solidFill>
          <a:ln w="12700">
            <a:solidFill>
              <a:schemeClr val="bg2"/>
            </a:solidFill>
            <a:prstDash val="solid"/>
          </a:ln>
        </p:spPr>
      </p:sp>
      <p:sp>
        <p:nvSpPr>
          <p:cNvPr id="4" name="Quote Ridgeway text"/>
          <p:cNvSpPr txBox="1"/>
          <p:nvPr/>
        </p:nvSpPr>
        <p:spPr>
          <a:xfrm>
            <a:off x="777240" y="1508760"/>
            <a:ext cx="5029200" cy="1143000"/>
          </a:xfrm>
          <a:prstGeom prst="rect">
            <a:avLst/>
          </a:prstGeom>
          <a:noFill/>
          <a:ln/>
        </p:spPr>
        <p:txBody>
          <a:bodyPr wrap="square" lIns="0" tIns="0" rIns="0" bIns="0" rtlCol="0" anchor="ctr"/>
          <a:lstStyle/>
          <a:p>
            <a:pPr indent="0" marL="0">
              <a:spcAft>
                <a:spcPts val="600"/>
              </a:spcAft>
              <a:buNone/>
            </a:pPr>
            <a:r>
              <a:rPr lang="en-US" sz="1500" i="1" dirty="0">
                <a:solidFill>
                  <a:schemeClr val="tx1"/>
                </a:solidFill>
              </a:rPr>
              <a:t>“By two in the afternoon half my crew is hunting for an outlet. We bought power banks for every truck.”</a:t>
            </a:r>
            <a:endParaRPr lang="en-US" sz="1500" dirty="0"/>
          </a:p>
          <a:p>
            <a:pPr indent="0" marL="0">
              <a:spcAft>
                <a:spcPts val="600"/>
              </a:spcAft>
              <a:buNone/>
            </a:pPr>
            <a:r>
              <a:rPr lang="en-US" sz="1200" b="1" dirty="0">
                <a:solidFill>
                  <a:schemeClr val="accent2"/>
                </a:solidFill>
              </a:rPr>
              <a:t>Carla Benning, Ridgeway Electric Cooperative</a:t>
            </a:r>
            <a:endParaRPr lang="en-US" sz="1500" dirty="0"/>
          </a:p>
        </p:txBody>
      </p:sp>
      <p:sp>
        <p:nvSpPr>
          <p:cNvPr id="5" name="Quote Lakeport"/>
          <p:cNvSpPr/>
          <p:nvPr/>
        </p:nvSpPr>
        <p:spPr>
          <a:xfrm>
            <a:off x="548640" y="2971800"/>
            <a:ext cx="5486400" cy="1417320"/>
          </a:xfrm>
          <a:prstGeom prst="roundRect">
            <a:avLst>
              <a:gd name="adj" fmla="val 5161"/>
            </a:avLst>
          </a:prstGeom>
          <a:solidFill>
            <a:schemeClr val="bg2"/>
          </a:solidFill>
          <a:ln w="12700">
            <a:solidFill>
              <a:schemeClr val="bg2"/>
            </a:solidFill>
            <a:prstDash val="solid"/>
          </a:ln>
        </p:spPr>
      </p:sp>
      <p:sp>
        <p:nvSpPr>
          <p:cNvPr id="6" name="Quote Lakeport text"/>
          <p:cNvSpPr txBox="1"/>
          <p:nvPr/>
        </p:nvSpPr>
        <p:spPr>
          <a:xfrm>
            <a:off x="777240" y="3108960"/>
            <a:ext cx="5029200" cy="1143000"/>
          </a:xfrm>
          <a:prstGeom prst="rect">
            <a:avLst/>
          </a:prstGeom>
          <a:noFill/>
          <a:ln/>
        </p:spPr>
        <p:txBody>
          <a:bodyPr wrap="square" lIns="0" tIns="0" rIns="0" bIns="0" rtlCol="0" anchor="ctr"/>
          <a:lstStyle/>
          <a:p>
            <a:pPr indent="0" marL="0">
              <a:spcAft>
                <a:spcPts val="600"/>
              </a:spcAft>
              <a:buNone/>
            </a:pPr>
            <a:r>
              <a:rPr lang="en-US" sz="1500" i="1" dirty="0">
                <a:solidFill>
                  <a:schemeClr val="tx1"/>
                </a:solidFill>
              </a:rPr>
              <a:t>“We turned off background GPS to get through a shift, which defeats the point of location stamping.”</a:t>
            </a:r>
            <a:endParaRPr lang="en-US" sz="1500" dirty="0"/>
          </a:p>
          <a:p>
            <a:pPr indent="0" marL="0">
              <a:spcAft>
                <a:spcPts val="600"/>
              </a:spcAft>
              <a:buNone/>
            </a:pPr>
            <a:r>
              <a:rPr lang="en-US" sz="1200" b="1" dirty="0">
                <a:solidFill>
                  <a:schemeClr val="accent2"/>
                </a:solidFill>
              </a:rPr>
              <a:t>Devon Pryce, Lakeport Public Works</a:t>
            </a:r>
            <a:endParaRPr lang="en-US" sz="1500" dirty="0"/>
          </a:p>
        </p:txBody>
      </p:sp>
      <p:sp>
        <p:nvSpPr>
          <p:cNvPr id="7" name="Quote Sutter Bend"/>
          <p:cNvSpPr/>
          <p:nvPr/>
        </p:nvSpPr>
        <p:spPr>
          <a:xfrm>
            <a:off x="548640" y="4572000"/>
            <a:ext cx="5486400" cy="1417320"/>
          </a:xfrm>
          <a:prstGeom prst="roundRect">
            <a:avLst>
              <a:gd name="adj" fmla="val 5161"/>
            </a:avLst>
          </a:prstGeom>
          <a:solidFill>
            <a:schemeClr val="bg2"/>
          </a:solidFill>
          <a:ln w="12700">
            <a:solidFill>
              <a:schemeClr val="bg2"/>
            </a:solidFill>
            <a:prstDash val="solid"/>
          </a:ln>
        </p:spPr>
      </p:sp>
      <p:sp>
        <p:nvSpPr>
          <p:cNvPr id="8" name="Quote Sutter Bend text"/>
          <p:cNvSpPr txBox="1"/>
          <p:nvPr/>
        </p:nvSpPr>
        <p:spPr>
          <a:xfrm>
            <a:off x="777240" y="4709160"/>
            <a:ext cx="5029200" cy="1143000"/>
          </a:xfrm>
          <a:prstGeom prst="rect">
            <a:avLst/>
          </a:prstGeom>
          <a:noFill/>
          <a:ln/>
        </p:spPr>
        <p:txBody>
          <a:bodyPr wrap="square" lIns="0" tIns="0" rIns="0" bIns="0" rtlCol="0" anchor="ctr"/>
          <a:lstStyle/>
          <a:p>
            <a:pPr indent="0" marL="0">
              <a:spcAft>
                <a:spcPts val="600"/>
              </a:spcAft>
              <a:buNone/>
            </a:pPr>
            <a:r>
              <a:rPr lang="en-US" sz="1500" i="1" dirty="0">
                <a:solidFill>
                  <a:schemeClr val="tx1"/>
                </a:solidFill>
              </a:rPr>
              <a:t>“Our techs swap tablets at lunch. That is two devices per person we did not budget for.”</a:t>
            </a:r>
            <a:endParaRPr lang="en-US" sz="1500" dirty="0"/>
          </a:p>
          <a:p>
            <a:pPr indent="0" marL="0">
              <a:spcAft>
                <a:spcPts val="600"/>
              </a:spcAft>
              <a:buNone/>
            </a:pPr>
            <a:r>
              <a:rPr lang="en-US" sz="1200" b="1" dirty="0">
                <a:solidFill>
                  <a:schemeClr val="accent2"/>
                </a:solidFill>
              </a:rPr>
              <a:t>Rafael Quintero, Sutter Bend Gas Company</a:t>
            </a:r>
            <a:endParaRPr lang="en-US" sz="1500" dirty="0"/>
          </a:p>
        </p:txBody>
      </p:sp>
      <p:sp>
        <p:nvSpPr>
          <p:cNvPr id="9" name="Battery facts card"/>
          <p:cNvSpPr/>
          <p:nvPr/>
        </p:nvSpPr>
        <p:spPr>
          <a:xfrm>
            <a:off x="6355080" y="1371600"/>
            <a:ext cx="5257800" cy="4617720"/>
          </a:xfrm>
          <a:prstGeom prst="roundRect">
            <a:avLst>
              <a:gd name="adj" fmla="val 1584"/>
            </a:avLst>
          </a:prstGeom>
          <a:solidFill>
            <a:schemeClr val="bg2"/>
          </a:solidFill>
          <a:ln w="12700">
            <a:solidFill>
              <a:schemeClr val="bg2"/>
            </a:solidFill>
            <a:prstDash val="solid"/>
          </a:ln>
        </p:spPr>
      </p:sp>
      <p:sp>
        <p:nvSpPr>
          <p:cNvPr id="10" name="Battery facts"/>
          <p:cNvSpPr txBox="1"/>
          <p:nvPr/>
        </p:nvSpPr>
        <p:spPr>
          <a:xfrm>
            <a:off x="6583680" y="1554480"/>
            <a:ext cx="4800600" cy="429768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What we heard</a:t>
            </a:r>
            <a:endParaRPr lang="en-US" sz="1600" dirty="0"/>
          </a:p>
          <a:p>
            <a:pPr marL="342900" indent="-342900">
              <a:spcAft>
                <a:spcPts val="600"/>
              </a:spcAft>
              <a:buSzPct val="100000"/>
              <a:buChar char="•"/>
            </a:pPr>
            <a:r>
              <a:rPr lang="en-US" sz="1400" dirty="0">
                <a:solidFill>
                  <a:srgbClr val="1B2A2F"/>
                </a:solidFill>
              </a:rPr>
              <a:t>Tablets with background location on are typically empty by about 2:00 PM on a shift that starts at 6:00 AM.</a:t>
            </a:r>
            <a:endParaRPr lang="en-US" sz="1600" dirty="0"/>
          </a:p>
          <a:p>
            <a:pPr marL="342900" indent="-342900">
              <a:spcAft>
                <a:spcPts val="600"/>
              </a:spcAft>
              <a:buSzPct val="100000"/>
              <a:buChar char="•"/>
            </a:pPr>
            <a:r>
              <a:rPr lang="en-US" sz="1400" dirty="0">
                <a:solidFill>
                  <a:srgbClr val="1B2A2F"/>
                </a:solidFill>
              </a:rPr>
              <a:t>Workarounds: power banks in every truck, turning off background location, spare tablets at lunch.</a:t>
            </a:r>
            <a:endParaRPr lang="en-US" sz="1600" dirty="0"/>
          </a:p>
          <a:p>
            <a:pPr marL="342900" indent="-342900">
              <a:spcAft>
                <a:spcPts val="600"/>
              </a:spcAft>
              <a:buSzPct val="100000"/>
              <a:buChar char="•"/>
            </a:pPr>
            <a:r>
              <a:rPr lang="en-US" sz="1400" dirty="0">
                <a:solidFill>
                  <a:srgbClr val="1B2A2F"/>
                </a:solidFill>
              </a:rPr>
              <a:t>Pine Hollow crews camping in the canyon have no way to charge for up to 3 days.</a:t>
            </a:r>
            <a:endParaRPr lang="en-US" sz="1600" dirty="0"/>
          </a:p>
          <a:p>
            <a:pPr indent="0" marL="0">
              <a:spcAft>
                <a:spcPts val="600"/>
              </a:spcAft>
              <a:buNone/>
            </a:pPr>
            <a:r>
              <a:rPr lang="en-US" sz="1600" b="1" dirty="0">
                <a:solidFill>
                  <a:schemeClr val="tx2"/>
                </a:solidFill>
              </a:rPr>
              <a:t>Why it matters</a:t>
            </a:r>
            <a:endParaRPr lang="en-US" sz="1600" dirty="0"/>
          </a:p>
          <a:p>
            <a:pPr marL="342900" indent="-342900">
              <a:spcAft>
                <a:spcPts val="600"/>
              </a:spcAft>
              <a:buSzPct val="100000"/>
              <a:buChar char="•"/>
            </a:pPr>
            <a:r>
              <a:rPr lang="en-US" sz="1400" dirty="0">
                <a:solidFill>
                  <a:srgbClr val="1B2A2F"/>
                </a:solidFill>
              </a:rPr>
              <a:t>Our own testing shows 8% to 12% battery per hour with background location on. Low-power location mode (6.3, Q1 2027) targets 4% to 6%.</a:t>
            </a:r>
            <a:endParaRPr lang="en-US" sz="1600" dirty="0"/>
          </a:p>
          <a:p>
            <a:pPr marL="342900" indent="-342900">
              <a:spcAft>
                <a:spcPts val="600"/>
              </a:spcAft>
              <a:buSzPct val="100000"/>
              <a:buChar char="•"/>
            </a:pPr>
            <a:r>
              <a:rPr lang="en-US" sz="1400" dirty="0">
                <a:solidFill>
                  <a:srgbClr val="1B2A2F"/>
                </a:solidFill>
              </a:rPr>
              <a:t>Long-shift utilities, including the Marlow Basin RFP (R-25), now ask about all-day battery directly.</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B8F"/>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Offline: 3 of 6 customers hit the 24-hour lock in remote areas</a:t>
            </a:r>
            <a:endParaRPr lang="en-US" sz="3200" dirty="0"/>
          </a:p>
        </p:txBody>
      </p:sp>
      <p:sp>
        <p:nvSpPr>
          <p:cNvPr id="3" name="Quote Pine Hollow"/>
          <p:cNvSpPr/>
          <p:nvPr/>
        </p:nvSpPr>
        <p:spPr>
          <a:xfrm>
            <a:off x="548640" y="1371600"/>
            <a:ext cx="6766560" cy="1645920"/>
          </a:xfrm>
          <a:prstGeom prst="roundRect">
            <a:avLst>
              <a:gd name="adj" fmla="val 4444"/>
            </a:avLst>
          </a:prstGeom>
          <a:solidFill>
            <a:schemeClr val="bg2"/>
          </a:solidFill>
          <a:ln w="12700">
            <a:solidFill>
              <a:schemeClr val="bg2"/>
            </a:solidFill>
            <a:prstDash val="solid"/>
          </a:ln>
        </p:spPr>
      </p:sp>
      <p:sp>
        <p:nvSpPr>
          <p:cNvPr id="4" name="Quote Pine Hollow text"/>
          <p:cNvSpPr txBox="1"/>
          <p:nvPr/>
        </p:nvSpPr>
        <p:spPr>
          <a:xfrm>
            <a:off x="777240" y="1508760"/>
            <a:ext cx="6309360" cy="1371600"/>
          </a:xfrm>
          <a:prstGeom prst="rect">
            <a:avLst/>
          </a:prstGeom>
          <a:noFill/>
          <a:ln/>
        </p:spPr>
        <p:txBody>
          <a:bodyPr wrap="square" lIns="0" tIns="0" rIns="0" bIns="0" rtlCol="0" anchor="ctr"/>
          <a:lstStyle/>
          <a:p>
            <a:pPr indent="0" marL="0">
              <a:spcAft>
                <a:spcPts val="600"/>
              </a:spcAft>
              <a:buNone/>
            </a:pPr>
            <a:r>
              <a:rPr lang="en-US" sz="1500" i="1" dirty="0">
                <a:solidFill>
                  <a:schemeClr val="tx1"/>
                </a:solidFill>
              </a:rPr>
              <a:t>“Our crews are out of coverage for two or three days in the canyon. After a day the app asks them to sync and they lose access to asset history, so they go back to paper.”</a:t>
            </a:r>
            <a:endParaRPr lang="en-US" sz="1500" dirty="0"/>
          </a:p>
          <a:p>
            <a:pPr indent="0" marL="0">
              <a:spcAft>
                <a:spcPts val="600"/>
              </a:spcAft>
              <a:buNone/>
            </a:pPr>
            <a:r>
              <a:rPr lang="en-US" sz="1200" b="1" dirty="0">
                <a:solidFill>
                  <a:schemeClr val="accent2"/>
                </a:solidFill>
              </a:rPr>
              <a:t>Hank Morales, Pine Hollow Utility District</a:t>
            </a:r>
            <a:endParaRPr lang="en-US" sz="1500" dirty="0"/>
          </a:p>
        </p:txBody>
      </p:sp>
      <p:sp>
        <p:nvSpPr>
          <p:cNvPr id="5" name="Quote Elmira"/>
          <p:cNvSpPr/>
          <p:nvPr/>
        </p:nvSpPr>
        <p:spPr>
          <a:xfrm>
            <a:off x="548640" y="3246120"/>
            <a:ext cx="6766560" cy="1371600"/>
          </a:xfrm>
          <a:prstGeom prst="roundRect">
            <a:avLst>
              <a:gd name="adj" fmla="val 5333"/>
            </a:avLst>
          </a:prstGeom>
          <a:solidFill>
            <a:schemeClr val="bg2"/>
          </a:solidFill>
          <a:ln w="12700">
            <a:solidFill>
              <a:schemeClr val="bg2"/>
            </a:solidFill>
            <a:prstDash val="solid"/>
          </a:ln>
        </p:spPr>
      </p:sp>
      <p:sp>
        <p:nvSpPr>
          <p:cNvPr id="6" name="Quote Elmira text"/>
          <p:cNvSpPr txBox="1"/>
          <p:nvPr/>
        </p:nvSpPr>
        <p:spPr>
          <a:xfrm>
            <a:off x="777240" y="3383280"/>
            <a:ext cx="6309360" cy="1097280"/>
          </a:xfrm>
          <a:prstGeom prst="rect">
            <a:avLst/>
          </a:prstGeom>
          <a:noFill/>
          <a:ln/>
        </p:spPr>
        <p:txBody>
          <a:bodyPr wrap="square" lIns="0" tIns="0" rIns="0" bIns="0" rtlCol="0" anchor="ctr"/>
          <a:lstStyle/>
          <a:p>
            <a:pPr indent="0" marL="0">
              <a:spcAft>
                <a:spcPts val="600"/>
              </a:spcAft>
              <a:buNone/>
            </a:pPr>
            <a:r>
              <a:rPr lang="en-US" sz="1500" i="1" dirty="0">
                <a:solidFill>
                  <a:schemeClr val="tx1"/>
                </a:solidFill>
              </a:rPr>
              <a:t>“Canal inspections in the north zone take two days. The second day is always a mess.”</a:t>
            </a:r>
            <a:endParaRPr lang="en-US" sz="1500" dirty="0"/>
          </a:p>
          <a:p>
            <a:pPr indent="0" marL="0">
              <a:spcAft>
                <a:spcPts val="600"/>
              </a:spcAft>
              <a:buNone/>
            </a:pPr>
            <a:r>
              <a:rPr lang="en-US" sz="1200" b="1" dirty="0">
                <a:solidFill>
                  <a:schemeClr val="accent2"/>
                </a:solidFill>
              </a:rPr>
              <a:t>Joan Albrecht, Elmira Flats Irrigation District</a:t>
            </a:r>
            <a:endParaRPr lang="en-US" sz="1500" dirty="0"/>
          </a:p>
        </p:txBody>
      </p:sp>
      <p:sp>
        <p:nvSpPr>
          <p:cNvPr id="7" name="Quote Ridgeway offline"/>
          <p:cNvSpPr/>
          <p:nvPr/>
        </p:nvSpPr>
        <p:spPr>
          <a:xfrm>
            <a:off x="548640" y="4846320"/>
            <a:ext cx="6766560" cy="1280160"/>
          </a:xfrm>
          <a:prstGeom prst="roundRect">
            <a:avLst>
              <a:gd name="adj" fmla="val 5714"/>
            </a:avLst>
          </a:prstGeom>
          <a:solidFill>
            <a:schemeClr val="bg2"/>
          </a:solidFill>
          <a:ln w="12700">
            <a:solidFill>
              <a:schemeClr val="bg2"/>
            </a:solidFill>
            <a:prstDash val="solid"/>
          </a:ln>
        </p:spPr>
      </p:sp>
      <p:sp>
        <p:nvSpPr>
          <p:cNvPr id="8" name="Quote Ridgeway offline text"/>
          <p:cNvSpPr txBox="1"/>
          <p:nvPr/>
        </p:nvSpPr>
        <p:spPr>
          <a:xfrm>
            <a:off x="777240" y="4983480"/>
            <a:ext cx="6309360" cy="1005840"/>
          </a:xfrm>
          <a:prstGeom prst="rect">
            <a:avLst/>
          </a:prstGeom>
          <a:noFill/>
          <a:ln/>
        </p:spPr>
        <p:txBody>
          <a:bodyPr wrap="square" lIns="0" tIns="0" rIns="0" bIns="0" rtlCol="0" anchor="ctr"/>
          <a:lstStyle/>
          <a:p>
            <a:pPr indent="0" marL="0">
              <a:spcAft>
                <a:spcPts val="600"/>
              </a:spcAft>
              <a:buNone/>
            </a:pPr>
            <a:r>
              <a:rPr lang="en-US" sz="1500" i="1" dirty="0">
                <a:solidFill>
                  <a:schemeClr val="tx1"/>
                </a:solidFill>
              </a:rPr>
              <a:t>“Storm response is when we need it most and when the towers are down.”</a:t>
            </a:r>
            <a:endParaRPr lang="en-US" sz="1500" dirty="0"/>
          </a:p>
          <a:p>
            <a:pPr indent="0" marL="0">
              <a:spcAft>
                <a:spcPts val="600"/>
              </a:spcAft>
              <a:buNone/>
            </a:pPr>
            <a:r>
              <a:rPr lang="en-US" sz="1200" b="1" dirty="0">
                <a:solidFill>
                  <a:schemeClr val="accent2"/>
                </a:solidFill>
              </a:rPr>
              <a:t>Carla Benning, Ridgeway Electric Cooperative</a:t>
            </a:r>
            <a:endParaRPr lang="en-US" sz="1500" dirty="0"/>
          </a:p>
        </p:txBody>
      </p:sp>
      <p:sp>
        <p:nvSpPr>
          <p:cNvPr id="9" name="Offline stat card"/>
          <p:cNvSpPr/>
          <p:nvPr/>
        </p:nvSpPr>
        <p:spPr>
          <a:xfrm>
            <a:off x="7635240" y="1371600"/>
            <a:ext cx="3977640" cy="4754880"/>
          </a:xfrm>
          <a:prstGeom prst="roundRect">
            <a:avLst>
              <a:gd name="adj" fmla="val 1839"/>
            </a:avLst>
          </a:prstGeom>
          <a:solidFill>
            <a:schemeClr val="bg2"/>
          </a:solidFill>
          <a:ln w="12700">
            <a:solidFill>
              <a:schemeClr val="bg2"/>
            </a:solidFill>
            <a:prstDash val="solid"/>
          </a:ln>
        </p:spPr>
      </p:sp>
      <p:sp>
        <p:nvSpPr>
          <p:cNvPr id="10" name="Stat offline now"/>
          <p:cNvSpPr txBox="1"/>
          <p:nvPr/>
        </p:nvSpPr>
        <p:spPr>
          <a:xfrm>
            <a:off x="7955280" y="1737360"/>
            <a:ext cx="2377440" cy="82296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24 h</a:t>
            </a:r>
            <a:endParaRPr lang="en-US" sz="4800" dirty="0"/>
          </a:p>
        </p:txBody>
      </p:sp>
      <p:sp>
        <p:nvSpPr>
          <p:cNvPr id="11" name="Stat offline now label"/>
          <p:cNvSpPr txBox="1"/>
          <p:nvPr/>
        </p:nvSpPr>
        <p:spPr>
          <a:xfrm>
            <a:off x="7955280" y="2560320"/>
            <a:ext cx="2377440" cy="548640"/>
          </a:xfrm>
          <a:prstGeom prst="rect">
            <a:avLst/>
          </a:prstGeom>
          <a:noFill/>
          <a:ln/>
        </p:spPr>
        <p:txBody>
          <a:bodyPr wrap="square" lIns="0" tIns="0" rIns="0" bIns="0" rtlCol="0" anchor="t"/>
          <a:lstStyle/>
          <a:p>
            <a:pPr indent="0" marL="0">
              <a:buNone/>
            </a:pPr>
            <a:r>
              <a:rPr lang="en-US" sz="1300" dirty="0">
                <a:solidFill>
                  <a:schemeClr val="tx1"/>
                </a:solidFill>
              </a:rPr>
              <a:t>current offline window before asset records lock (fixed in 6.2)</a:t>
            </a:r>
            <a:endParaRPr lang="en-US" sz="1300" dirty="0"/>
          </a:p>
        </p:txBody>
      </p:sp>
      <p:sp>
        <p:nvSpPr>
          <p:cNvPr id="12" name="Stat offline ask"/>
          <p:cNvSpPr txBox="1"/>
          <p:nvPr/>
        </p:nvSpPr>
        <p:spPr>
          <a:xfrm>
            <a:off x="7955280" y="3383280"/>
            <a:ext cx="2377440" cy="82296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72 h</a:t>
            </a:r>
            <a:endParaRPr lang="en-US" sz="4800" dirty="0"/>
          </a:p>
        </p:txBody>
      </p:sp>
      <p:sp>
        <p:nvSpPr>
          <p:cNvPr id="13" name="Stat offline ask label"/>
          <p:cNvSpPr txBox="1"/>
          <p:nvPr/>
        </p:nvSpPr>
        <p:spPr>
          <a:xfrm>
            <a:off x="7955280" y="4206240"/>
            <a:ext cx="2377440" cy="548640"/>
          </a:xfrm>
          <a:prstGeom prst="rect">
            <a:avLst/>
          </a:prstGeom>
          <a:noFill/>
          <a:ln/>
        </p:spPr>
        <p:txBody>
          <a:bodyPr wrap="square" lIns="0" tIns="0" rIns="0" bIns="0" rtlCol="0" anchor="t"/>
          <a:lstStyle/>
          <a:p>
            <a:pPr indent="0" marL="0">
              <a:buNone/>
            </a:pPr>
            <a:r>
              <a:rPr lang="en-US" sz="1300" dirty="0">
                <a:solidFill>
                  <a:schemeClr val="tx1"/>
                </a:solidFill>
              </a:rPr>
              <a:t>minimum asked for by Pine Hollow, and required by the Marlow Basin RFP (R-06)</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B8F"/>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Photo uploads and Spanish UI are smaller but growing asks</a:t>
            </a:r>
            <a:endParaRPr lang="en-US" sz="3200" dirty="0"/>
          </a:p>
        </p:txBody>
      </p:sp>
      <p:sp>
        <p:nvSpPr>
          <p:cNvPr id="3" name="Photo card"/>
          <p:cNvSpPr/>
          <p:nvPr/>
        </p:nvSpPr>
        <p:spPr>
          <a:xfrm>
            <a:off x="548640" y="1371600"/>
            <a:ext cx="5394960" cy="4754880"/>
          </a:xfrm>
          <a:prstGeom prst="roundRect">
            <a:avLst>
              <a:gd name="adj" fmla="val 1538"/>
            </a:avLst>
          </a:prstGeom>
          <a:solidFill>
            <a:schemeClr val="bg2"/>
          </a:solidFill>
          <a:ln w="12700">
            <a:solidFill>
              <a:schemeClr val="bg2"/>
            </a:solidFill>
            <a:prstDash val="solid"/>
          </a:ln>
        </p:spPr>
      </p:sp>
      <p:sp>
        <p:nvSpPr>
          <p:cNvPr id="4" name="Photo text"/>
          <p:cNvSpPr txBox="1"/>
          <p:nvPr/>
        </p:nvSpPr>
        <p:spPr>
          <a:xfrm>
            <a:off x="777240" y="1554480"/>
            <a:ext cx="4937760" cy="438912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Photo uploads (3 of 6)</a:t>
            </a:r>
            <a:endParaRPr lang="en-US" sz="1800" dirty="0"/>
          </a:p>
          <a:p>
            <a:pPr indent="0" marL="0">
              <a:spcAft>
                <a:spcPts val="800"/>
              </a:spcAft>
              <a:buNone/>
            </a:pPr>
            <a:r>
              <a:rPr lang="en-US" sz="1500" i="1" dirty="0">
                <a:solidFill>
                  <a:srgbClr val="1B2A2F"/>
                </a:solidFill>
              </a:rPr>
              <a:t>“Uploading 40 photos over LTE at the end of the day takes 25 minutes.”</a:t>
            </a:r>
            <a:endParaRPr lang="en-US" sz="1800" dirty="0"/>
          </a:p>
          <a:p>
            <a:pPr indent="0" marL="0">
              <a:spcAft>
                <a:spcPts val="800"/>
              </a:spcAft>
              <a:buNone/>
            </a:pPr>
            <a:r>
              <a:rPr lang="en-US" sz="1200" b="1" dirty="0">
                <a:solidFill>
                  <a:schemeClr val="accent2"/>
                </a:solidFill>
              </a:rPr>
              <a:t>Joan Albrecht, Elmira Flats</a:t>
            </a:r>
            <a:endParaRPr lang="en-US" sz="1800" dirty="0"/>
          </a:p>
          <a:p>
            <a:pPr marL="342900" indent="-342900">
              <a:spcAft>
                <a:spcPts val="800"/>
              </a:spcAft>
              <a:buSzPct val="100000"/>
              <a:buChar char="•"/>
            </a:pPr>
            <a:r>
              <a:rPr lang="en-US" sz="1400" dirty="0">
                <a:solidFill>
                  <a:srgbClr val="1B2A2F"/>
                </a:solidFill>
              </a:rPr>
              <a:t>Raised by Elmira Flats, Lakeport and Sutter Bend.</a:t>
            </a:r>
            <a:endParaRPr lang="en-US" sz="1800" dirty="0"/>
          </a:p>
          <a:p>
            <a:pPr marL="342900" indent="-342900">
              <a:spcAft>
                <a:spcPts val="800"/>
              </a:spcAft>
              <a:buSzPct val="100000"/>
              <a:buChar char="•"/>
            </a:pPr>
            <a:r>
              <a:rPr lang="en-US" sz="1400" dirty="0">
                <a:solidFill>
                  <a:srgbClr val="1B2A2F"/>
                </a:solidFill>
              </a:rPr>
              <a:t>None of the three had on-device compression turned on; it is off by default.</a:t>
            </a:r>
            <a:endParaRPr lang="en-US" sz="1800" dirty="0"/>
          </a:p>
          <a:p>
            <a:pPr marL="342900" indent="-342900">
              <a:spcAft>
                <a:spcPts val="800"/>
              </a:spcAft>
              <a:buSzPct val="100000"/>
              <a:buChar char="•"/>
            </a:pPr>
            <a:r>
              <a:rPr lang="en-US" sz="1400" dirty="0">
                <a:solidFill>
                  <a:srgbClr val="1B2A2F"/>
                </a:solidFill>
              </a:rPr>
              <a:t>Compressed photos average 6 to 9 seconds each over LTE.</a:t>
            </a:r>
            <a:endParaRPr lang="en-US" sz="1800" dirty="0"/>
          </a:p>
        </p:txBody>
      </p:sp>
      <p:sp>
        <p:nvSpPr>
          <p:cNvPr id="5" name="Spanish card"/>
          <p:cNvSpPr/>
          <p:nvPr/>
        </p:nvSpPr>
        <p:spPr>
          <a:xfrm>
            <a:off x="6217920" y="1371600"/>
            <a:ext cx="5394960" cy="4754880"/>
          </a:xfrm>
          <a:prstGeom prst="roundRect">
            <a:avLst>
              <a:gd name="adj" fmla="val 1538"/>
            </a:avLst>
          </a:prstGeom>
          <a:solidFill>
            <a:schemeClr val="bg2"/>
          </a:solidFill>
          <a:ln w="12700">
            <a:solidFill>
              <a:schemeClr val="bg2"/>
            </a:solidFill>
            <a:prstDash val="solid"/>
          </a:ln>
        </p:spPr>
      </p:sp>
      <p:sp>
        <p:nvSpPr>
          <p:cNvPr id="6" name="Spanish text"/>
          <p:cNvSpPr txBox="1"/>
          <p:nvPr/>
        </p:nvSpPr>
        <p:spPr>
          <a:xfrm>
            <a:off x="6446520" y="1554480"/>
            <a:ext cx="4937760" cy="438912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Spanish user interface (2 of 6)</a:t>
            </a:r>
            <a:endParaRPr lang="en-US" sz="1800" dirty="0"/>
          </a:p>
          <a:p>
            <a:pPr indent="0" marL="0">
              <a:spcAft>
                <a:spcPts val="800"/>
              </a:spcAft>
              <a:buNone/>
            </a:pPr>
            <a:r>
              <a:rPr lang="en-US" sz="1500" i="1" dirty="0">
                <a:solidFill>
                  <a:srgbClr val="1B2A2F"/>
                </a:solidFill>
              </a:rPr>
              <a:t>“Half of our field techs prefer Spanish. We maintain two versions of every form today, and the menus are still English.”</a:t>
            </a:r>
            <a:endParaRPr lang="en-US" sz="1800" dirty="0"/>
          </a:p>
          <a:p>
            <a:pPr indent="0" marL="0">
              <a:spcAft>
                <a:spcPts val="800"/>
              </a:spcAft>
              <a:buNone/>
            </a:pPr>
            <a:r>
              <a:rPr lang="en-US" sz="1200" b="1" dirty="0">
                <a:solidFill>
                  <a:schemeClr val="accent2"/>
                </a:solidFill>
              </a:rPr>
              <a:t>Rafael Quintero, Sutter Bend Gas</a:t>
            </a:r>
            <a:endParaRPr lang="en-US" sz="1800" dirty="0"/>
          </a:p>
          <a:p>
            <a:pPr marL="342900" indent="-342900">
              <a:spcAft>
                <a:spcPts val="800"/>
              </a:spcAft>
              <a:buSzPct val="100000"/>
              <a:buChar char="•"/>
            </a:pPr>
            <a:r>
              <a:rPr lang="en-US" sz="1400" dirty="0">
                <a:solidFill>
                  <a:srgbClr val="1B2A2F"/>
                </a:solidFill>
              </a:rPr>
              <a:t>Pine Hollow seasonal crews are mostly Spanish speaking.</a:t>
            </a:r>
            <a:endParaRPr lang="en-US" sz="1800" dirty="0"/>
          </a:p>
          <a:p>
            <a:pPr marL="342900" indent="-342900">
              <a:spcAft>
                <a:spcPts val="800"/>
              </a:spcAft>
              <a:buSzPct val="100000"/>
              <a:buChar char="•"/>
            </a:pPr>
            <a:r>
              <a:rPr lang="en-US" sz="1400" dirty="0">
                <a:solidFill>
                  <a:srgbClr val="1B2A2F"/>
                </a:solidFill>
              </a:rPr>
              <a:t>Spanish UI is planned for 7.0 (Q2 2027). Marlow Basin requires it at go-live (R-10).</a:t>
            </a:r>
            <a:endParaRPr lang="en-US" sz="18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B8F"/>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What is working: the form builder and train-the-trainer</a:t>
            </a:r>
            <a:endParaRPr lang="en-US" sz="3200" dirty="0"/>
          </a:p>
        </p:txBody>
      </p:sp>
      <p:sp>
        <p:nvSpPr>
          <p:cNvPr id="3" name="Stat forms"/>
          <p:cNvSpPr txBox="1"/>
          <p:nvPr/>
        </p:nvSpPr>
        <p:spPr>
          <a:xfrm>
            <a:off x="548640" y="1463040"/>
            <a:ext cx="2377440" cy="822960"/>
          </a:xfrm>
          <a:prstGeom prst="rect">
            <a:avLst/>
          </a:prstGeom>
          <a:noFill/>
          <a:ln/>
        </p:spPr>
        <p:txBody>
          <a:bodyPr wrap="square" lIns="0" tIns="0" rIns="0" bIns="0" rtlCol="0" anchor="ctr"/>
          <a:lstStyle/>
          <a:p>
            <a:pPr indent="0" marL="0">
              <a:buNone/>
            </a:pPr>
            <a:r>
              <a:rPr lang="en-US" sz="4800" b="1" dirty="0">
                <a:solidFill>
                  <a:schemeClr val="accent3"/>
                </a:solidFill>
                <a:latin typeface="Cambria" pitchFamily="34" charset="0"/>
                <a:ea typeface="Cambria" pitchFamily="34" charset="-122"/>
                <a:cs typeface="Cambria" pitchFamily="34" charset="-120"/>
              </a:rPr>
              <a:t>5 of 6</a:t>
            </a:r>
            <a:endParaRPr lang="en-US" sz="4800" dirty="0"/>
          </a:p>
        </p:txBody>
      </p:sp>
      <p:sp>
        <p:nvSpPr>
          <p:cNvPr id="4" name="Stat forms label"/>
          <p:cNvSpPr txBox="1"/>
          <p:nvPr/>
        </p:nvSpPr>
        <p:spPr>
          <a:xfrm>
            <a:off x="548640" y="2286000"/>
            <a:ext cx="2377440" cy="548640"/>
          </a:xfrm>
          <a:prstGeom prst="rect">
            <a:avLst/>
          </a:prstGeom>
          <a:noFill/>
          <a:ln/>
        </p:spPr>
        <p:txBody>
          <a:bodyPr wrap="square" lIns="0" tIns="0" rIns="0" bIns="0" rtlCol="0" anchor="t"/>
          <a:lstStyle/>
          <a:p>
            <a:pPr indent="0" marL="0">
              <a:buNone/>
            </a:pPr>
            <a:r>
              <a:rPr lang="en-US" sz="1300" dirty="0">
                <a:solidFill>
                  <a:schemeClr val="tx1"/>
                </a:solidFill>
              </a:rPr>
              <a:t>praised the form builder without prompting</a:t>
            </a:r>
            <a:endParaRPr lang="en-US" sz="1300" dirty="0"/>
          </a:p>
        </p:txBody>
      </p:sp>
      <p:sp>
        <p:nvSpPr>
          <p:cNvPr id="5" name="Stat training"/>
          <p:cNvSpPr txBox="1"/>
          <p:nvPr/>
        </p:nvSpPr>
        <p:spPr>
          <a:xfrm>
            <a:off x="548640" y="3291840"/>
            <a:ext cx="2377440" cy="822960"/>
          </a:xfrm>
          <a:prstGeom prst="rect">
            <a:avLst/>
          </a:prstGeom>
          <a:noFill/>
          <a:ln/>
        </p:spPr>
        <p:txBody>
          <a:bodyPr wrap="square" lIns="0" tIns="0" rIns="0" bIns="0" rtlCol="0" anchor="ctr"/>
          <a:lstStyle/>
          <a:p>
            <a:pPr indent="0" marL="0">
              <a:buNone/>
            </a:pPr>
            <a:r>
              <a:rPr lang="en-US" sz="4800" b="1" dirty="0">
                <a:solidFill>
                  <a:schemeClr val="accent3"/>
                </a:solidFill>
                <a:latin typeface="Cambria" pitchFamily="34" charset="0"/>
                <a:ea typeface="Cambria" pitchFamily="34" charset="-122"/>
                <a:cs typeface="Cambria" pitchFamily="34" charset="-120"/>
              </a:rPr>
              <a:t>4 of 6</a:t>
            </a:r>
            <a:endParaRPr lang="en-US" sz="4800" dirty="0"/>
          </a:p>
        </p:txBody>
      </p:sp>
      <p:sp>
        <p:nvSpPr>
          <p:cNvPr id="6" name="Stat training label"/>
          <p:cNvSpPr txBox="1"/>
          <p:nvPr/>
        </p:nvSpPr>
        <p:spPr>
          <a:xfrm>
            <a:off x="548640" y="4114800"/>
            <a:ext cx="2377440" cy="548640"/>
          </a:xfrm>
          <a:prstGeom prst="rect">
            <a:avLst/>
          </a:prstGeom>
          <a:noFill/>
          <a:ln/>
        </p:spPr>
        <p:txBody>
          <a:bodyPr wrap="square" lIns="0" tIns="0" rIns="0" bIns="0" rtlCol="0" anchor="t"/>
          <a:lstStyle/>
          <a:p>
            <a:pPr indent="0" marL="0">
              <a:buNone/>
            </a:pPr>
            <a:r>
              <a:rPr lang="en-US" sz="1300" dirty="0">
                <a:solidFill>
                  <a:schemeClr val="tx1"/>
                </a:solidFill>
              </a:rPr>
              <a:t>said train-the-trainer made rollout easy</a:t>
            </a:r>
            <a:endParaRPr lang="en-US" sz="1300" dirty="0"/>
          </a:p>
        </p:txBody>
      </p:sp>
      <p:sp>
        <p:nvSpPr>
          <p:cNvPr id="7" name="Quote Granite"/>
          <p:cNvSpPr/>
          <p:nvPr/>
        </p:nvSpPr>
        <p:spPr>
          <a:xfrm>
            <a:off x="3291840" y="1371600"/>
            <a:ext cx="8321040" cy="1463040"/>
          </a:xfrm>
          <a:prstGeom prst="roundRect">
            <a:avLst>
              <a:gd name="adj" fmla="val 5000"/>
            </a:avLst>
          </a:prstGeom>
          <a:solidFill>
            <a:schemeClr val="bg2"/>
          </a:solidFill>
          <a:ln w="12700">
            <a:solidFill>
              <a:schemeClr val="bg2"/>
            </a:solidFill>
            <a:prstDash val="solid"/>
          </a:ln>
        </p:spPr>
      </p:sp>
      <p:sp>
        <p:nvSpPr>
          <p:cNvPr id="8" name="Quote Granite text"/>
          <p:cNvSpPr txBox="1"/>
          <p:nvPr/>
        </p:nvSpPr>
        <p:spPr>
          <a:xfrm>
            <a:off x="3520440" y="1508760"/>
            <a:ext cx="7863840" cy="1188720"/>
          </a:xfrm>
          <a:prstGeom prst="rect">
            <a:avLst/>
          </a:prstGeom>
          <a:noFill/>
          <a:ln/>
        </p:spPr>
        <p:txBody>
          <a:bodyPr wrap="square" lIns="0" tIns="0" rIns="0" bIns="0" rtlCol="0" anchor="ctr"/>
          <a:lstStyle/>
          <a:p>
            <a:pPr indent="0" marL="0">
              <a:spcAft>
                <a:spcPts val="600"/>
              </a:spcAft>
              <a:buNone/>
            </a:pPr>
            <a:r>
              <a:rPr lang="en-US" sz="1500" i="1" dirty="0">
                <a:solidFill>
                  <a:schemeClr val="tx1"/>
                </a:solidFill>
              </a:rPr>
              <a:t>“Form builder is the best thing about the product. Our analysts build a new form in an afternoon.”</a:t>
            </a:r>
            <a:endParaRPr lang="en-US" sz="1500" dirty="0"/>
          </a:p>
          <a:p>
            <a:pPr indent="0" marL="0">
              <a:spcAft>
                <a:spcPts val="600"/>
              </a:spcAft>
              <a:buNone/>
            </a:pPr>
            <a:r>
              <a:rPr lang="en-US" sz="1200" b="1" dirty="0">
                <a:solidFill>
                  <a:schemeClr val="accent2"/>
                </a:solidFill>
              </a:rPr>
              <a:t>Mei Tanaka, Granite Falls Water Authority</a:t>
            </a:r>
            <a:endParaRPr lang="en-US" sz="1500" dirty="0"/>
          </a:p>
        </p:txBody>
      </p:sp>
      <p:sp>
        <p:nvSpPr>
          <p:cNvPr id="9" name="Quote Lakeport training"/>
          <p:cNvSpPr/>
          <p:nvPr/>
        </p:nvSpPr>
        <p:spPr>
          <a:xfrm>
            <a:off x="3291840" y="3017520"/>
            <a:ext cx="8321040" cy="1463040"/>
          </a:xfrm>
          <a:prstGeom prst="roundRect">
            <a:avLst>
              <a:gd name="adj" fmla="val 5000"/>
            </a:avLst>
          </a:prstGeom>
          <a:solidFill>
            <a:schemeClr val="bg2"/>
          </a:solidFill>
          <a:ln w="12700">
            <a:solidFill>
              <a:schemeClr val="bg2"/>
            </a:solidFill>
            <a:prstDash val="solid"/>
          </a:ln>
        </p:spPr>
      </p:sp>
      <p:sp>
        <p:nvSpPr>
          <p:cNvPr id="10" name="Quote Lakeport training text"/>
          <p:cNvSpPr txBox="1"/>
          <p:nvPr/>
        </p:nvSpPr>
        <p:spPr>
          <a:xfrm>
            <a:off x="3520440" y="3154680"/>
            <a:ext cx="7863840" cy="1188720"/>
          </a:xfrm>
          <a:prstGeom prst="rect">
            <a:avLst/>
          </a:prstGeom>
          <a:noFill/>
          <a:ln/>
        </p:spPr>
        <p:txBody>
          <a:bodyPr wrap="square" lIns="0" tIns="0" rIns="0" bIns="0" rtlCol="0" anchor="ctr"/>
          <a:lstStyle/>
          <a:p>
            <a:pPr indent="0" marL="0">
              <a:spcAft>
                <a:spcPts val="600"/>
              </a:spcAft>
              <a:buNone/>
            </a:pPr>
            <a:r>
              <a:rPr lang="en-US" sz="1500" i="1" dirty="0">
                <a:solidFill>
                  <a:schemeClr val="tx1"/>
                </a:solidFill>
              </a:rPr>
              <a:t>“Our trainers were certified in a week and ran every session themselves. Crews were productive on day two.”</a:t>
            </a:r>
            <a:endParaRPr lang="en-US" sz="1500" dirty="0"/>
          </a:p>
          <a:p>
            <a:pPr indent="0" marL="0">
              <a:spcAft>
                <a:spcPts val="600"/>
              </a:spcAft>
              <a:buNone/>
            </a:pPr>
            <a:r>
              <a:rPr lang="en-US" sz="1200" b="1" dirty="0">
                <a:solidFill>
                  <a:schemeClr val="accent2"/>
                </a:solidFill>
              </a:rPr>
              <a:t>Devon Pryce, Lakeport Public Works</a:t>
            </a:r>
            <a:endParaRPr lang="en-US" sz="1500" dirty="0"/>
          </a:p>
        </p:txBody>
      </p:sp>
      <p:sp>
        <p:nvSpPr>
          <p:cNvPr id="11" name="Quote Ridgeway positive"/>
          <p:cNvSpPr/>
          <p:nvPr/>
        </p:nvSpPr>
        <p:spPr>
          <a:xfrm>
            <a:off x="3291840" y="4663440"/>
            <a:ext cx="8321040" cy="1371600"/>
          </a:xfrm>
          <a:prstGeom prst="roundRect">
            <a:avLst>
              <a:gd name="adj" fmla="val 5333"/>
            </a:avLst>
          </a:prstGeom>
          <a:solidFill>
            <a:schemeClr val="bg2"/>
          </a:solidFill>
          <a:ln w="12700">
            <a:solidFill>
              <a:schemeClr val="bg2"/>
            </a:solidFill>
            <a:prstDash val="solid"/>
          </a:ln>
        </p:spPr>
      </p:sp>
      <p:sp>
        <p:nvSpPr>
          <p:cNvPr id="12" name="Quote Ridgeway positive text"/>
          <p:cNvSpPr txBox="1"/>
          <p:nvPr/>
        </p:nvSpPr>
        <p:spPr>
          <a:xfrm>
            <a:off x="3520440" y="4800600"/>
            <a:ext cx="7863840" cy="1097280"/>
          </a:xfrm>
          <a:prstGeom prst="rect">
            <a:avLst/>
          </a:prstGeom>
          <a:noFill/>
          <a:ln/>
        </p:spPr>
        <p:txBody>
          <a:bodyPr wrap="square" lIns="0" tIns="0" rIns="0" bIns="0" rtlCol="0" anchor="ctr"/>
          <a:lstStyle/>
          <a:p>
            <a:pPr indent="0" marL="0">
              <a:spcAft>
                <a:spcPts val="600"/>
              </a:spcAft>
              <a:buNone/>
            </a:pPr>
            <a:r>
              <a:rPr lang="en-US" sz="1500" i="1" dirty="0">
                <a:solidFill>
                  <a:schemeClr val="tx1"/>
                </a:solidFill>
              </a:rPr>
              <a:t>“We have tried three inspection tools. This is the first one supervisors actually look at.”</a:t>
            </a:r>
            <a:endParaRPr lang="en-US" sz="1500" dirty="0"/>
          </a:p>
          <a:p>
            <a:pPr indent="0" marL="0">
              <a:spcAft>
                <a:spcPts val="600"/>
              </a:spcAft>
              <a:buNone/>
            </a:pPr>
            <a:r>
              <a:rPr lang="en-US" sz="1200" b="1" dirty="0">
                <a:solidFill>
                  <a:schemeClr val="accent2"/>
                </a:solidFill>
              </a:rPr>
              <a:t>Carla Benning, Ridgeway Electric Cooperative</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B8F"/>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Recommendations</a:t>
            </a:r>
            <a:endParaRPr lang="en-US" sz="3200" dirty="0"/>
          </a:p>
        </p:txBody>
      </p:sp>
      <p:sp>
        <p:nvSpPr>
          <p:cNvPr id="3" name="Rec 1 badge"/>
          <p:cNvSpPr/>
          <p:nvPr/>
        </p:nvSpPr>
        <p:spPr>
          <a:xfrm>
            <a:off x="548640" y="1417320"/>
            <a:ext cx="548640" cy="548640"/>
          </a:xfrm>
          <a:prstGeom prst="ellipse">
            <a:avLst/>
          </a:prstGeom>
          <a:solidFill>
            <a:schemeClr val="accent2"/>
          </a:solidFill>
          <a:ln w="12700">
            <a:solidFill>
              <a:schemeClr val="accent2"/>
            </a:solidFill>
            <a:prstDash val="solid"/>
          </a:ln>
        </p:spPr>
      </p:sp>
      <p:sp>
        <p:nvSpPr>
          <p:cNvPr id="4" name="Rec 1 number"/>
          <p:cNvSpPr txBox="1"/>
          <p:nvPr/>
        </p:nvSpPr>
        <p:spPr>
          <a:xfrm>
            <a:off x="548640" y="1417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Rec 1 text"/>
          <p:cNvSpPr txBox="1"/>
          <p:nvPr/>
        </p:nvSpPr>
        <p:spPr>
          <a:xfrm>
            <a:off x="1325880" y="1325880"/>
            <a:ext cx="10241280" cy="777240"/>
          </a:xfrm>
          <a:prstGeom prst="rect">
            <a:avLst/>
          </a:prstGeom>
          <a:noFill/>
          <a:ln/>
        </p:spPr>
        <p:txBody>
          <a:bodyPr wrap="square" lIns="0" tIns="0" rIns="0" bIns="0" rtlCol="0" anchor="ctr"/>
          <a:lstStyle/>
          <a:p>
            <a:pPr indent="0" marL="0">
              <a:buNone/>
            </a:pPr>
            <a:r>
              <a:rPr lang="en-US" sz="1700" b="1" dirty="0">
                <a:solidFill>
                  <a:schemeClr val="tx2"/>
                </a:solidFill>
              </a:rPr>
              <a:t>Ship low-power location mode in 6.3 (Q1 2027)</a:t>
            </a:r>
            <a:endParaRPr lang="en-US" sz="1700" dirty="0"/>
          </a:p>
          <a:p>
            <a:pPr indent="0" marL="0">
              <a:buNone/>
            </a:pPr>
            <a:r>
              <a:rPr lang="en-US" sz="1400" dirty="0">
                <a:solidFill>
                  <a:schemeClr val="tx1"/>
                </a:solidFill>
              </a:rPr>
              <a:t>Publish battery guidance now: disable background location or provide vehicle charging.</a:t>
            </a:r>
            <a:endParaRPr lang="en-US" sz="1700" dirty="0"/>
          </a:p>
        </p:txBody>
      </p:sp>
      <p:sp>
        <p:nvSpPr>
          <p:cNvPr id="6" name="Rec 2 badge"/>
          <p:cNvSpPr/>
          <p:nvPr/>
        </p:nvSpPr>
        <p:spPr>
          <a:xfrm>
            <a:off x="548640" y="2404872"/>
            <a:ext cx="548640" cy="548640"/>
          </a:xfrm>
          <a:prstGeom prst="ellipse">
            <a:avLst/>
          </a:prstGeom>
          <a:solidFill>
            <a:schemeClr val="accent2"/>
          </a:solidFill>
          <a:ln w="12700">
            <a:solidFill>
              <a:schemeClr val="accent2"/>
            </a:solidFill>
            <a:prstDash val="solid"/>
          </a:ln>
        </p:spPr>
      </p:sp>
      <p:sp>
        <p:nvSpPr>
          <p:cNvPr id="7" name="Rec 2 number"/>
          <p:cNvSpPr txBox="1"/>
          <p:nvPr/>
        </p:nvSpPr>
        <p:spPr>
          <a:xfrm>
            <a:off x="548640" y="240487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Rec 2 text"/>
          <p:cNvSpPr txBox="1"/>
          <p:nvPr/>
        </p:nvSpPr>
        <p:spPr>
          <a:xfrm>
            <a:off x="1325880" y="2313432"/>
            <a:ext cx="10241280" cy="777240"/>
          </a:xfrm>
          <a:prstGeom prst="rect">
            <a:avLst/>
          </a:prstGeom>
          <a:noFill/>
          <a:ln/>
        </p:spPr>
        <p:txBody>
          <a:bodyPr wrap="square" lIns="0" tIns="0" rIns="0" bIns="0" rtlCol="0" anchor="ctr"/>
          <a:lstStyle/>
          <a:p>
            <a:pPr indent="0" marL="0">
              <a:buNone/>
            </a:pPr>
            <a:r>
              <a:rPr lang="en-US" sz="1700" b="1" dirty="0">
                <a:solidFill>
                  <a:schemeClr val="tx2"/>
                </a:solidFill>
              </a:rPr>
              <a:t>Scope an offline window of 72 hours or more</a:t>
            </a:r>
            <a:endParaRPr lang="en-US" sz="1700" dirty="0"/>
          </a:p>
          <a:p>
            <a:pPr indent="0" marL="0">
              <a:buNone/>
            </a:pPr>
            <a:r>
              <a:rPr lang="en-US" sz="1400" dirty="0">
                <a:solidFill>
                  <a:schemeClr val="tx1"/>
                </a:solidFill>
              </a:rPr>
              <a:t>Pine Hollow and Elmira Flats need it; Marlow Basin requires it (R-06). Engineering estimate: $85,000.</a:t>
            </a:r>
            <a:endParaRPr lang="en-US" sz="1700" dirty="0"/>
          </a:p>
        </p:txBody>
      </p:sp>
      <p:sp>
        <p:nvSpPr>
          <p:cNvPr id="9" name="Rec 3 badge"/>
          <p:cNvSpPr/>
          <p:nvPr/>
        </p:nvSpPr>
        <p:spPr>
          <a:xfrm>
            <a:off x="548640" y="3392424"/>
            <a:ext cx="548640" cy="548640"/>
          </a:xfrm>
          <a:prstGeom prst="ellipse">
            <a:avLst/>
          </a:prstGeom>
          <a:solidFill>
            <a:schemeClr val="accent2"/>
          </a:solidFill>
          <a:ln w="12700">
            <a:solidFill>
              <a:schemeClr val="accent2"/>
            </a:solidFill>
            <a:prstDash val="solid"/>
          </a:ln>
        </p:spPr>
      </p:sp>
      <p:sp>
        <p:nvSpPr>
          <p:cNvPr id="10" name="Rec 3 number"/>
          <p:cNvSpPr txBox="1"/>
          <p:nvPr/>
        </p:nvSpPr>
        <p:spPr>
          <a:xfrm>
            <a:off x="548640" y="339242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1" name="Rec 3 text"/>
          <p:cNvSpPr txBox="1"/>
          <p:nvPr/>
        </p:nvSpPr>
        <p:spPr>
          <a:xfrm>
            <a:off x="1325880" y="3300984"/>
            <a:ext cx="10241280" cy="777240"/>
          </a:xfrm>
          <a:prstGeom prst="rect">
            <a:avLst/>
          </a:prstGeom>
          <a:noFill/>
          <a:ln/>
        </p:spPr>
        <p:txBody>
          <a:bodyPr wrap="square" lIns="0" tIns="0" rIns="0" bIns="0" rtlCol="0" anchor="ctr"/>
          <a:lstStyle/>
          <a:p>
            <a:pPr indent="0" marL="0">
              <a:buNone/>
            </a:pPr>
            <a:r>
              <a:rPr lang="en-US" sz="1700" b="1" dirty="0">
                <a:solidFill>
                  <a:schemeClr val="tx2"/>
                </a:solidFill>
              </a:rPr>
              <a:t>Turn on photo compression by default</a:t>
            </a:r>
            <a:endParaRPr lang="en-US" sz="1700" dirty="0"/>
          </a:p>
          <a:p>
            <a:pPr indent="0" marL="0">
              <a:buNone/>
            </a:pPr>
            <a:r>
              <a:rPr lang="en-US" sz="1400" dirty="0">
                <a:solidFill>
                  <a:schemeClr val="tx1"/>
                </a:solidFill>
              </a:rPr>
              <a:t>Low effort; addresses 3 of 6 customers immediately.</a:t>
            </a:r>
            <a:endParaRPr lang="en-US" sz="1700" dirty="0"/>
          </a:p>
        </p:txBody>
      </p:sp>
      <p:sp>
        <p:nvSpPr>
          <p:cNvPr id="12" name="Rec 4 badge"/>
          <p:cNvSpPr/>
          <p:nvPr/>
        </p:nvSpPr>
        <p:spPr>
          <a:xfrm>
            <a:off x="548640" y="4379976"/>
            <a:ext cx="548640" cy="548640"/>
          </a:xfrm>
          <a:prstGeom prst="ellipse">
            <a:avLst/>
          </a:prstGeom>
          <a:solidFill>
            <a:schemeClr val="accent2"/>
          </a:solidFill>
          <a:ln w="12700">
            <a:solidFill>
              <a:schemeClr val="accent2"/>
            </a:solidFill>
            <a:prstDash val="solid"/>
          </a:ln>
        </p:spPr>
      </p:sp>
      <p:sp>
        <p:nvSpPr>
          <p:cNvPr id="13" name="Rec 4 number"/>
          <p:cNvSpPr txBox="1"/>
          <p:nvPr/>
        </p:nvSpPr>
        <p:spPr>
          <a:xfrm>
            <a:off x="548640" y="437997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4" name="Rec 4 text"/>
          <p:cNvSpPr txBox="1"/>
          <p:nvPr/>
        </p:nvSpPr>
        <p:spPr>
          <a:xfrm>
            <a:off x="1325880" y="4288536"/>
            <a:ext cx="10241280" cy="777240"/>
          </a:xfrm>
          <a:prstGeom prst="rect">
            <a:avLst/>
          </a:prstGeom>
          <a:noFill/>
          <a:ln/>
        </p:spPr>
        <p:txBody>
          <a:bodyPr wrap="square" lIns="0" tIns="0" rIns="0" bIns="0" rtlCol="0" anchor="ctr"/>
          <a:lstStyle/>
          <a:p>
            <a:pPr indent="0" marL="0">
              <a:buNone/>
            </a:pPr>
            <a:r>
              <a:rPr lang="en-US" sz="1700" b="1" dirty="0">
                <a:solidFill>
                  <a:schemeClr val="tx2"/>
                </a:solidFill>
              </a:rPr>
              <a:t>Keep Spanish UI on track for 7.0, accelerate for commitments</a:t>
            </a:r>
            <a:endParaRPr lang="en-US" sz="1700" dirty="0"/>
          </a:p>
          <a:p>
            <a:pPr indent="0" marL="0">
              <a:buNone/>
            </a:pPr>
            <a:r>
              <a:rPr lang="en-US" sz="1400" dirty="0">
                <a:solidFill>
                  <a:schemeClr val="tx1"/>
                </a:solidFill>
              </a:rPr>
              <a:t>Required for Marlow Basin go-live (R-10).</a:t>
            </a:r>
            <a:endParaRPr lang="en-US" sz="1700" dirty="0"/>
          </a:p>
        </p:txBody>
      </p:sp>
      <p:sp>
        <p:nvSpPr>
          <p:cNvPr id="15" name="Rec 5 badge"/>
          <p:cNvSpPr/>
          <p:nvPr/>
        </p:nvSpPr>
        <p:spPr>
          <a:xfrm>
            <a:off x="548640" y="5367528"/>
            <a:ext cx="548640" cy="548640"/>
          </a:xfrm>
          <a:prstGeom prst="ellipse">
            <a:avLst/>
          </a:prstGeom>
          <a:solidFill>
            <a:schemeClr val="accent1"/>
          </a:solidFill>
          <a:ln w="12700">
            <a:solidFill>
              <a:schemeClr val="accent1"/>
            </a:solidFill>
            <a:prstDash val="solid"/>
          </a:ln>
        </p:spPr>
      </p:sp>
      <p:sp>
        <p:nvSpPr>
          <p:cNvPr id="16" name="Rec 5 number"/>
          <p:cNvSpPr txBox="1"/>
          <p:nvPr/>
        </p:nvSpPr>
        <p:spPr>
          <a:xfrm>
            <a:off x="548640" y="536752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7" name="Rec 5 text"/>
          <p:cNvSpPr txBox="1"/>
          <p:nvPr/>
        </p:nvSpPr>
        <p:spPr>
          <a:xfrm>
            <a:off x="1325880" y="5276088"/>
            <a:ext cx="10241280" cy="777240"/>
          </a:xfrm>
          <a:prstGeom prst="rect">
            <a:avLst/>
          </a:prstGeom>
          <a:noFill/>
          <a:ln/>
        </p:spPr>
        <p:txBody>
          <a:bodyPr wrap="square" lIns="0" tIns="0" rIns="0" bIns="0" rtlCol="0" anchor="ctr"/>
          <a:lstStyle/>
          <a:p>
            <a:pPr indent="0" marL="0">
              <a:buNone/>
            </a:pPr>
            <a:r>
              <a:rPr lang="en-US" sz="1700" b="1" dirty="0">
                <a:solidFill>
                  <a:schemeClr val="tx2"/>
                </a:solidFill>
              </a:rPr>
              <a:t>Reference strategy</a:t>
            </a:r>
            <a:endParaRPr lang="en-US" sz="1700" dirty="0"/>
          </a:p>
          <a:p>
            <a:pPr indent="0" marL="0">
              <a:buNone/>
            </a:pPr>
            <a:r>
              <a:rPr lang="en-US" sz="1400" dirty="0">
                <a:solidFill>
                  <a:schemeClr val="tx1"/>
                </a:solidFill>
              </a:rPr>
              <a:t>Granite Falls is the strongest reference. Ridgeway is positive overall but will raise battery life; brief prospects first.</a:t>
            </a:r>
            <a:endParaRPr lang="en-US" sz="17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B8F"/>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463040"/>
          </a:xfrm>
          <a:prstGeom prst="rect">
            <a:avLst/>
          </a:prstGeom>
          <a:noFill/>
          <a:ln/>
        </p:spPr>
        <p:txBody>
          <a:bodyPr wrap="square" lIns="0" tIns="0" rIns="0" bIns="0" rtlCol="0" anchor="b"/>
          <a:lstStyle/>
          <a:p>
            <a:pPr indent="0" marL="0">
              <a:buNone/>
            </a:pPr>
            <a:r>
              <a:rPr lang="en-US" sz="4400" b="1" dirty="0">
                <a:solidFill>
                  <a:schemeClr val="bg1"/>
                </a:solidFill>
                <a:latin typeface="Cambria" pitchFamily="34" charset="0"/>
                <a:ea typeface="Cambria" pitchFamily="34" charset="-122"/>
                <a:cs typeface="Cambria" pitchFamily="34" charset="-120"/>
              </a:rPr>
              <a:t>All-day, all-terrain, any-language</a:t>
            </a:r>
            <a:endParaRPr lang="en-US" sz="4400" dirty="0"/>
          </a:p>
        </p:txBody>
      </p:sp>
      <p:sp>
        <p:nvSpPr>
          <p:cNvPr id="3" name="Text 0"/>
          <p:cNvSpPr/>
          <p:nvPr>
            <p:ph idx="101" type="body" hasCustomPrompt="1"/>
          </p:nvPr>
        </p:nvSpPr>
        <p:spPr>
          <a:xfrm>
            <a:off x="731520" y="3566160"/>
            <a:ext cx="10698480" cy="1463040"/>
          </a:xfrm>
          <a:prstGeom prst="rect">
            <a:avLst/>
          </a:prstGeom>
          <a:noFill/>
          <a:ln/>
        </p:spPr>
        <p:txBody>
          <a:bodyPr wrap="square" lIns="0" tIns="0" rIns="0" bIns="0" rtlCol="0" anchor="t"/>
          <a:lstStyle/>
          <a:p>
            <a:pPr indent="0" marL="0">
              <a:buNone/>
            </a:pPr>
            <a:r>
              <a:rPr lang="en-US" sz="1800" dirty="0">
                <a:solidFill>
                  <a:schemeClr val="bg2"/>
                </a:solidFill>
              </a:rPr>
              <a:t>The next two releases should make Corvane Inspect work for a full shift, for three days off the grid, in the language each crew prefers.</a:t>
            </a:r>
            <a:endParaRPr lang="en-US" sz="1800" dirty="0"/>
          </a:p>
        </p:txBody>
      </p:sp>
    </p:spTree>
  </p:cSld>
  <p:clrMapOvr>
    <a:masterClrMapping/>
  </p:clrMapOvr>
</p:sld>
</file>

<file path=ppt/theme/theme1.xml><?xml version="1.0" encoding="utf-8"?>
<a:theme xmlns:a="http://schemas.openxmlformats.org/drawingml/2006/main" name="Field Voices">
  <a:themeElements>
    <a:clrScheme name="Field Voices">
      <a:dk1>
        <a:srgbClr val="1B2A2F"/>
      </a:dk1>
      <a:lt1>
        <a:srgbClr val="FFFFFF"/>
      </a:lt1>
      <a:dk2>
        <a:srgbClr val="0F4C5C"/>
      </a:dk2>
      <a:lt2>
        <a:srgbClr val="EEF3F2"/>
      </a:lt2>
      <a:accent1>
        <a:srgbClr val="0F4C5C"/>
      </a:accent1>
      <a:accent2>
        <a:srgbClr val="E36414"/>
      </a:accent2>
      <a:accent3>
        <a:srgbClr val="5F8D7E"/>
      </a:accent3>
      <a:accent4>
        <a:srgbClr val="9A031E"/>
      </a:accent4>
      <a:accent5>
        <a:srgbClr val="FB8B24"/>
      </a:accent5>
      <a:accent6>
        <a:srgbClr val="7A8B8F"/>
      </a:accent6>
      <a:hlink>
        <a:srgbClr val="0F4C5C"/>
      </a:hlink>
      <a:folHlink>
        <a:srgbClr val="5F8D7E"/>
      </a:folHlink>
    </a:clrScheme>
    <a:fontScheme name="Field Voic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Corvane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Interviews Q3 2026</dc:title>
  <dc:subject>PptxGenJS Presentation</dc:subject>
  <dc:creator>Corvane Systems Product Management</dc:creator>
  <cp:lastModifiedBy>Corvane Systems Product Management</cp:lastModifiedBy>
  <cp:revision>1</cp:revision>
  <dcterms:created xsi:type="dcterms:W3CDTF">2026-10-03T21:37:30Z</dcterms:created>
  <dcterms:modified xsi:type="dcterms:W3CDTF">2026-10-03T21:37:30Z</dcterms:modified>
</cp:coreProperties>
</file>